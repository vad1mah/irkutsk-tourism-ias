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0" r:id="rId3"/>
    <p:sldId id="259" r:id="rId4"/>
    <p:sldId id="271" r:id="rId5"/>
    <p:sldId id="272" r:id="rId6"/>
    <p:sldId id="274" r:id="rId7"/>
    <p:sldId id="273" r:id="rId8"/>
    <p:sldId id="275" r:id="rId9"/>
    <p:sldId id="262" r:id="rId10"/>
    <p:sldId id="263" r:id="rId11"/>
    <p:sldId id="267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7166D-7042-4F77-B239-E735776E0D37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57829-166E-46DB-8DB8-7EC2789CE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4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  <a:r>
              <a:rPr lang="en-US" dirty="0"/>
              <a:t>,</a:t>
            </a:r>
            <a:r>
              <a:rPr lang="ru-RU" dirty="0"/>
              <a:t> новизна и практическая значимость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57829-166E-46DB-8DB8-7EC2789CE5D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77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0B5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A145-3478-37B8-C711-92DFAFB9E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RF Dewi Expanded" panose="0000050500000000000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0C948D-8831-7C41-FEDD-2CFE41423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239" y="5452041"/>
            <a:ext cx="9144000" cy="493295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F Dewi Expanded" panose="0000050500000000000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8251AD1D-CD4E-82E5-CEF4-D46AAE9324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20" y="441925"/>
            <a:ext cx="4098290" cy="102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3A60BBA7-E934-250B-24E7-E0C8143B77CC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7789213" y="-1639237"/>
            <a:ext cx="1027995" cy="5188936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5128B988-8D2B-0A0A-7956-5CA04C0FDB44}"/>
              </a:ext>
            </a:extLst>
          </p:cNvPr>
          <p:cNvGrpSpPr/>
          <p:nvPr userDrawn="1"/>
        </p:nvGrpSpPr>
        <p:grpSpPr>
          <a:xfrm>
            <a:off x="564673" y="2855583"/>
            <a:ext cx="11425885" cy="3667982"/>
            <a:chOff x="564673" y="2855583"/>
            <a:chExt cx="11425885" cy="3667982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D2FE3AFF-2190-5DF6-E713-EC11570E0EF8}"/>
                </a:ext>
              </a:extLst>
            </p:cNvPr>
            <p:cNvCxnSpPr/>
            <p:nvPr/>
          </p:nvCxnSpPr>
          <p:spPr>
            <a:xfrm>
              <a:off x="11591293" y="2855583"/>
              <a:ext cx="0" cy="32687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8C7B5F83-4BE2-1383-09AC-DC9BC62E20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673" y="6133970"/>
              <a:ext cx="1102662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CF99B4C7-2BBC-266D-B812-2154AFAF7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92028" y="5725035"/>
              <a:ext cx="798530" cy="79853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957781B-D2D6-9782-79A3-43B11CB6FC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62086" y="5998606"/>
              <a:ext cx="458415" cy="251389"/>
            </a:xfrm>
            <a:prstGeom prst="rect">
              <a:avLst/>
            </a:prstGeom>
          </p:spPr>
        </p:pic>
      </p:grp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685968CD-0494-A8CA-26FF-2E49190B0E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420" y="6290672"/>
            <a:ext cx="2743200" cy="365125"/>
          </a:xfrm>
        </p:spPr>
        <p:txBody>
          <a:bodyPr/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Иркутск 2026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0108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07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5419054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B89224F-0C3D-94BB-2D8D-87D816C05CA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97596"/>
            <a:ext cx="5717758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4608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25F08DE-D437-9522-B4A9-22636A7C59C4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9091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4D9628F-BA65-85C5-CA18-FDA108C0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877A6010-6576-464C-9D73-B8F7350833F9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203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4" y="2021840"/>
            <a:ext cx="7119834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432382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3568705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5F90A67-237D-6C1B-8C29-FD10E875D6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35852" y="1389170"/>
            <a:ext cx="3446992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A306F97-5A83-35CB-F813-E7FD3010CF3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8402" y="2021839"/>
            <a:ext cx="3542323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0634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970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усеченный угол 3">
            <a:extLst>
              <a:ext uri="{FF2B5EF4-FFF2-40B4-BE49-F238E27FC236}">
                <a16:creationId xmlns:a16="http://schemas.microsoft.com/office/drawing/2014/main" id="{029D64A9-CC0B-0D02-4E37-9F22D2123194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38185" y="3425954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8" y="3026171"/>
            <a:ext cx="5729591" cy="3387657"/>
          </a:xfrm>
          <a:prstGeom prst="snip1Rect">
            <a:avLst>
              <a:gd name="adj" fmla="val 13303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F7DBED-38F4-84E1-E596-A8E3D9E70E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 rot="10800000">
            <a:off x="6160649" y="2579431"/>
            <a:ext cx="399266" cy="81190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0" name="Прямоугольник: усеченные противолежащие углы 19">
            <a:extLst>
              <a:ext uri="{FF2B5EF4-FFF2-40B4-BE49-F238E27FC236}">
                <a16:creationId xmlns:a16="http://schemas.microsoft.com/office/drawing/2014/main" id="{C653C613-8071-2CD5-F910-908BE3BC679C}"/>
              </a:ext>
            </a:extLst>
          </p:cNvPr>
          <p:cNvSpPr/>
          <p:nvPr userDrawn="1"/>
        </p:nvSpPr>
        <p:spPr>
          <a:xfrm>
            <a:off x="6160650" y="1232820"/>
            <a:ext cx="5729592" cy="1698400"/>
          </a:xfrm>
          <a:prstGeom prst="snip2DiagRect">
            <a:avLst>
              <a:gd name="adj1" fmla="val 0"/>
              <a:gd name="adj2" fmla="val 26815"/>
            </a:avLst>
          </a:prstGeom>
          <a:noFill/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3DCFB6D-6A0B-2CDC-828A-15D56CA7C6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 b="49225"/>
          <a:stretch>
            <a:fillRect/>
          </a:stretch>
        </p:blipFill>
        <p:spPr>
          <a:xfrm rot="16200000">
            <a:off x="11515734" y="1211976"/>
            <a:ext cx="399266" cy="412246"/>
          </a:xfrm>
          <a:prstGeom prst="rect">
            <a:avLst/>
          </a:prstGeom>
        </p:spPr>
      </p:pic>
      <p:sp>
        <p:nvSpPr>
          <p:cNvPr id="25" name="Объект 2">
            <a:extLst>
              <a:ext uri="{FF2B5EF4-FFF2-40B4-BE49-F238E27FC236}">
                <a16:creationId xmlns:a16="http://schemas.microsoft.com/office/drawing/2014/main" id="{10514181-9C75-25A9-7FC5-7938D389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F02F89C5-038B-5063-2217-4E6B6BBFE2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6FC37832-3A3F-14EF-F64F-4481D17F8E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9485" y="3697612"/>
            <a:ext cx="5550611" cy="2621265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C6974289-DCDE-E7B1-E042-6DE2ADC0DE0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63147" y="1779553"/>
            <a:ext cx="5550611" cy="106423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Объект 2">
            <a:extLst>
              <a:ext uri="{FF2B5EF4-FFF2-40B4-BE49-F238E27FC236}">
                <a16:creationId xmlns:a16="http://schemas.microsoft.com/office/drawing/2014/main" id="{7C7A0900-E648-EF8F-B751-65C14D2096E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Объект 2">
            <a:extLst>
              <a:ext uri="{FF2B5EF4-FFF2-40B4-BE49-F238E27FC236}">
                <a16:creationId xmlns:a16="http://schemas.microsoft.com/office/drawing/2014/main" id="{F1B6D5C2-8F1C-AF1B-2206-05FB63E6FE2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AEB0007-E767-C6AB-9CEC-4F7DB90C066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63147" y="1342440"/>
            <a:ext cx="5550611" cy="378426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A0EC8309-D45C-C5BA-34B5-DACB9226839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29485" y="3207629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926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54009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3" y="247444"/>
            <a:ext cx="10721754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8BD804D-794A-3759-85F2-2CCE5B3C6BDA}"/>
              </a:ext>
            </a:extLst>
          </p:cNvPr>
          <p:cNvPicPr/>
          <p:nvPr userDrawn="1"/>
        </p:nvPicPr>
        <p:blipFill>
          <a:blip r:embed="rId3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1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5181600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1395663"/>
            <a:ext cx="5297904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99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4572001" cy="29036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1441" y="1395663"/>
            <a:ext cx="5683463" cy="47718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  <p:sp>
        <p:nvSpPr>
          <p:cNvPr id="14" name="Прямоугольник: один усеченный угол 13">
            <a:extLst>
              <a:ext uri="{FF2B5EF4-FFF2-40B4-BE49-F238E27FC236}">
                <a16:creationId xmlns:a16="http://schemas.microsoft.com/office/drawing/2014/main" id="{542ADC93-17F1-7250-0CDB-C85881A21E8E}"/>
              </a:ext>
            </a:extLst>
          </p:cNvPr>
          <p:cNvSpPr/>
          <p:nvPr userDrawn="1"/>
        </p:nvSpPr>
        <p:spPr>
          <a:xfrm>
            <a:off x="378242" y="4667880"/>
            <a:ext cx="5336759" cy="168659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lvl="0"/>
            <a:r>
              <a:rPr lang="ru-RU" dirty="0">
                <a:solidFill>
                  <a:srgbClr val="0B5185"/>
                </a:solidFill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1947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8858605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81" y="365125"/>
            <a:ext cx="8238619" cy="64770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393" y="1425064"/>
            <a:ext cx="8238619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93" y="2046227"/>
            <a:ext cx="8238619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25655" y="1509701"/>
            <a:ext cx="2595952" cy="58341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25654" y="2323370"/>
            <a:ext cx="2595952" cy="386629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199616" y="251695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9475424" y="1927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2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9575" y="387636"/>
            <a:ext cx="7041254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9575" y="1012826"/>
            <a:ext cx="8394067" cy="517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3" y="387636"/>
            <a:ext cx="2595952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3" y="1012826"/>
            <a:ext cx="2595952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04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12068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928" y="387636"/>
            <a:ext cx="4258900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928" y="1012826"/>
            <a:ext cx="5611714" cy="517683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2" y="387636"/>
            <a:ext cx="5216591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2" y="1012826"/>
            <a:ext cx="5216591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04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5416062" y="0"/>
            <a:ext cx="6775937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55" y="419668"/>
            <a:ext cx="4439226" cy="82298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803" y="1417091"/>
            <a:ext cx="4439226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03" y="2003483"/>
            <a:ext cx="4439226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6296" y="419668"/>
            <a:ext cx="3808792" cy="832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16296" y="1398356"/>
            <a:ext cx="6003721" cy="4791307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263789" y="407469"/>
            <a:ext cx="556229" cy="52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10246838" y="157701"/>
            <a:ext cx="583417" cy="1082954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AAF6517-E633-4354-6FE9-771A21D8854E}"/>
              </a:ext>
            </a:extLst>
          </p:cNvPr>
          <p:cNvCxnSpPr>
            <a:cxnSpLocks/>
          </p:cNvCxnSpPr>
          <p:nvPr userDrawn="1"/>
        </p:nvCxnSpPr>
        <p:spPr>
          <a:xfrm flipH="1">
            <a:off x="282152" y="1199269"/>
            <a:ext cx="14618" cy="529243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>
            <a:extLst>
              <a:ext uri="{FF2B5EF4-FFF2-40B4-BE49-F238E27FC236}">
                <a16:creationId xmlns:a16="http://schemas.microsoft.com/office/drawing/2014/main" id="{33C51923-7ED7-03D2-83BB-ABE5F839DEF1}"/>
              </a:ext>
            </a:extLst>
          </p:cNvPr>
          <p:cNvSpPr/>
          <p:nvPr userDrawn="1"/>
        </p:nvSpPr>
        <p:spPr>
          <a:xfrm>
            <a:off x="167945" y="1970492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D59D8F8-04C5-F3CF-AD8F-6AAE9238E9A2}"/>
              </a:ext>
            </a:extLst>
          </p:cNvPr>
          <p:cNvSpPr/>
          <p:nvPr userDrawn="1"/>
        </p:nvSpPr>
        <p:spPr>
          <a:xfrm>
            <a:off x="167945" y="3041321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0668659-F357-F2B9-583A-0F5958F08A57}"/>
              </a:ext>
            </a:extLst>
          </p:cNvPr>
          <p:cNvSpPr/>
          <p:nvPr userDrawn="1"/>
        </p:nvSpPr>
        <p:spPr>
          <a:xfrm>
            <a:off x="163420" y="5182979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CEB39BF-9687-9201-60AC-775416935EB1}"/>
              </a:ext>
            </a:extLst>
          </p:cNvPr>
          <p:cNvSpPr/>
          <p:nvPr userDrawn="1"/>
        </p:nvSpPr>
        <p:spPr>
          <a:xfrm>
            <a:off x="160488" y="4112150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61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29835-9FC5-2877-FD25-898C41D9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925E68-9663-404C-B71C-A41A45DD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F6AA7-86E0-F640-79B5-EC4E36BD3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2140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2" r:id="rId5"/>
    <p:sldLayoutId id="2147483668" r:id="rId6"/>
    <p:sldLayoutId id="2147483660" r:id="rId7"/>
    <p:sldLayoutId id="2147483672" r:id="rId8"/>
    <p:sldLayoutId id="2147483669" r:id="rId9"/>
    <p:sldLayoutId id="2147483659" r:id="rId10"/>
    <p:sldLayoutId id="2147483661" r:id="rId11"/>
    <p:sldLayoutId id="2147483666" r:id="rId12"/>
    <p:sldLayoutId id="2147483652" r:id="rId13"/>
    <p:sldLayoutId id="2147483658" r:id="rId14"/>
    <p:sldLayoutId id="2147483653" r:id="rId15"/>
    <p:sldLayoutId id="2147483665" r:id="rId16"/>
    <p:sldLayoutId id="2147483670" r:id="rId17"/>
    <p:sldLayoutId id="214748366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8AD8-F6B6-1184-C786-0AB502E0B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025DB4-4FEC-6D11-22D7-6F46E051B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b="1" dirty="0"/>
              <a:t>Студент</a:t>
            </a:r>
            <a:r>
              <a:rPr lang="ru-RU" dirty="0"/>
              <a:t>: Исполатов Вадим Петрович 14422-ДБ</a:t>
            </a:r>
          </a:p>
          <a:p>
            <a:pPr>
              <a:spcBef>
                <a:spcPts val="0"/>
              </a:spcBef>
            </a:pPr>
            <a:r>
              <a:rPr lang="ru-RU" b="1" dirty="0"/>
              <a:t>Консультант</a:t>
            </a:r>
            <a:r>
              <a:rPr lang="ru-RU" dirty="0"/>
              <a:t>: м</a:t>
            </a:r>
            <a:r>
              <a:rPr lang="en-US" dirty="0"/>
              <a:t>.</a:t>
            </a:r>
            <a:r>
              <a:rPr lang="ru-RU" dirty="0"/>
              <a:t>н</a:t>
            </a:r>
            <a:r>
              <a:rPr lang="en-US" dirty="0"/>
              <a:t>.c.,</a:t>
            </a:r>
            <a:r>
              <a:rPr lang="ru-RU" dirty="0"/>
              <a:t> Пестова Ю</a:t>
            </a:r>
            <a:r>
              <a:rPr lang="en-US" dirty="0"/>
              <a:t>.</a:t>
            </a:r>
            <a:r>
              <a:rPr lang="ru-RU" dirty="0"/>
              <a:t>В</a:t>
            </a:r>
            <a:r>
              <a:rPr lang="en-US" dirty="0"/>
              <a:t>.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b="1" dirty="0"/>
              <a:t>Научный руководитель</a:t>
            </a:r>
            <a:r>
              <a:rPr lang="ru-RU" dirty="0"/>
              <a:t>: доцент, д.т.н., Николайчук О.А.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F0CF-49BE-9C54-5513-683A62172041}"/>
              </a:ext>
            </a:extLst>
          </p:cNvPr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RF Dewi Expanded" panose="0000050500000000000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115471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C9FC-D21F-A5F0-95B3-4CA5AC5A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9341C-4608-FD55-0A67-F157EDAC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и задачи работы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D7B18-6E41-1F30-6D09-46F8317D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39" y="1988756"/>
            <a:ext cx="6747824" cy="4389092"/>
          </a:xfrm>
        </p:spPr>
        <p:txBody>
          <a:bodyPr>
            <a:normAutofit lnSpcReduction="1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Исследовать предметную область мониторинга туристической активности и провести анализ существующих аналитических решений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Обосновать выбор технологий, дизайн-инструментов и средств визуализации данных для разработки системы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Спроектировать и реализовать подсистему автоматизированного сбора данных из туристических агрегаторов и порталов событий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Разработать ансамблевый метод прогнозирования заполняемости средств размещения и модуль его реализующий с визуальной аналитикой результатов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Спроектировать архитектуру интеллектуальной аналитической системы (ИАС) и реализовать систему, ее взаимодействие с интеллектуальным агентом и веб-интерфейс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EF9587-0387-0E56-BFEA-05F9064B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2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9A2C91A-0FF5-7BEC-63C5-79BED53AAA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5936" y="1425180"/>
            <a:ext cx="2268538" cy="398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B5185"/>
                </a:solidFill>
              </a:rPr>
              <a:t>Цель</a:t>
            </a:r>
          </a:p>
          <a:p>
            <a:pPr marL="0" indent="0">
              <a:buNone/>
            </a:pPr>
            <a:endParaRPr lang="ru-RU" b="1" dirty="0">
              <a:solidFill>
                <a:srgbClr val="0B518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7F0C8-505D-6D2F-4378-2922F25E21F9}"/>
              </a:ext>
            </a:extLst>
          </p:cNvPr>
          <p:cNvSpPr txBox="1"/>
          <p:nvPr/>
        </p:nvSpPr>
        <p:spPr>
          <a:xfrm>
            <a:off x="475937" y="1988756"/>
            <a:ext cx="40249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RF Dewi Expanded" panose="00000505000000000000"/>
              </a:rPr>
              <a:t>Проектирование и разработка интеллектуальной аналитической системы прогнозирования заполняемости средств размещения с интерфейсом визуальной аналитики на основе данных туристических агрегаторов и событийной активности в регионе</a:t>
            </a:r>
            <a:endParaRPr lang="ru-RU" sz="2400" b="0" dirty="0">
              <a:effectLst/>
              <a:latin typeface="RF Dewi Expanded" panose="0000050500000000000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8BCFD2B-FAD9-83F3-8449-E01088AB8673}"/>
              </a:ext>
            </a:extLst>
          </p:cNvPr>
          <p:cNvCxnSpPr/>
          <p:nvPr/>
        </p:nvCxnSpPr>
        <p:spPr>
          <a:xfrm>
            <a:off x="4582160" y="1097280"/>
            <a:ext cx="0" cy="57607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Объект 4">
            <a:extLst>
              <a:ext uri="{FF2B5EF4-FFF2-40B4-BE49-F238E27FC236}">
                <a16:creationId xmlns:a16="http://schemas.microsoft.com/office/drawing/2014/main" id="{D44319CC-C1BE-F248-8362-A35EEFAC0FE2}"/>
              </a:ext>
            </a:extLst>
          </p:cNvPr>
          <p:cNvSpPr txBox="1">
            <a:spLocks/>
          </p:cNvSpPr>
          <p:nvPr/>
        </p:nvSpPr>
        <p:spPr>
          <a:xfrm>
            <a:off x="4875217" y="1425180"/>
            <a:ext cx="2268538" cy="398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>
                <a:solidFill>
                  <a:srgbClr val="0B5185"/>
                </a:solidFill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83937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E6211-7615-8C7D-4200-8441AFBB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1: Исследование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51248-FF36-F653-6B66-1F6E8D05A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417739"/>
            <a:ext cx="5803872" cy="2200716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Выбор алгоритмов прогнозирования</a:t>
            </a:r>
            <a:r>
              <a:rPr lang="en-US" sz="2400" dirty="0"/>
              <a:t>:</a:t>
            </a:r>
          </a:p>
          <a:p>
            <a:r>
              <a:rPr lang="ru-RU" sz="2000" dirty="0"/>
              <a:t>Отказ от классических моделей (ARIMA) из-за сложности учета экзогенных факторов (погода, локальные события).</a:t>
            </a:r>
          </a:p>
          <a:p>
            <a:r>
              <a:rPr lang="ru-RU" sz="2000" dirty="0"/>
              <a:t>Фокус на ML-ансамбли: Выбрана интеграция </a:t>
            </a:r>
            <a:r>
              <a:rPr lang="ru-RU" sz="2000" dirty="0" err="1"/>
              <a:t>Prophet</a:t>
            </a:r>
            <a:r>
              <a:rPr lang="ru-RU" sz="2000" dirty="0"/>
              <a:t>, </a:t>
            </a:r>
            <a:r>
              <a:rPr lang="ru-RU" sz="2000" dirty="0" err="1"/>
              <a:t>NeuralProphet</a:t>
            </a:r>
            <a:r>
              <a:rPr lang="ru-RU" sz="2000" dirty="0"/>
              <a:t> и </a:t>
            </a:r>
            <a:r>
              <a:rPr lang="ru-RU" sz="2000" dirty="0" err="1"/>
              <a:t>XGBoost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14CFD2-8EFA-39DE-1B86-2D5219A7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3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7DB0578-6FFF-E3AA-9AD7-8DF441E91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53" y="1798835"/>
            <a:ext cx="4200525" cy="3438525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3E18765C-34B4-AC0B-A5B1-0FB1CE5C3491}"/>
              </a:ext>
            </a:extLst>
          </p:cNvPr>
          <p:cNvSpPr txBox="1">
            <a:spLocks/>
          </p:cNvSpPr>
          <p:nvPr/>
        </p:nvSpPr>
        <p:spPr>
          <a:xfrm>
            <a:off x="1194933" y="5454675"/>
            <a:ext cx="4724163" cy="801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dirty="0"/>
              <a:t>Рисунок 1 – Базовые источники данных для прогнозирования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20514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2DCB-F0ED-9907-93E1-FC85F1AC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23DE8-A3CA-2765-9901-82DD0825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Этап 2: Обоснование технологий и архитектура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069AC-2309-39E5-97F2-8CADFFE4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4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D9890E5-184B-BCCB-C4A7-B85F28FBE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2997" y="5384439"/>
            <a:ext cx="10772775" cy="824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Рисунок </a:t>
            </a:r>
            <a:r>
              <a:rPr lang="en-US" sz="2400" dirty="0"/>
              <a:t>2</a:t>
            </a:r>
            <a:r>
              <a:rPr lang="ru-RU" sz="2400" dirty="0"/>
              <a:t> – Общая архитектура информационно-аналитической системы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5E9F20E-15F3-3F08-6648-40354B67C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17" y="1461561"/>
            <a:ext cx="10232137" cy="37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2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DD94-FAAA-1001-E499-48222030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E55E5-2877-014F-DA65-09481FC5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3: Подсистема сбора данных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06FE92-4078-E600-F86C-A3882AE0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5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7F1F-ACA8-D9DA-B71D-F2BDD6EAE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941058"/>
            <a:ext cx="5672329" cy="2504189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0A33CD0B-1483-4175-9792-1D41A8C58A53}"/>
              </a:ext>
            </a:extLst>
          </p:cNvPr>
          <p:cNvSpPr txBox="1">
            <a:spLocks/>
          </p:cNvSpPr>
          <p:nvPr/>
        </p:nvSpPr>
        <p:spPr>
          <a:xfrm>
            <a:off x="1142998" y="4912712"/>
            <a:ext cx="5672329" cy="718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/>
              <a:t>Рисунок 3 – Архитектура подсистемы сбора и нормализации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E3E2239-B132-9A10-96DB-2EF6CE8C32B6}"/>
              </a:ext>
            </a:extLst>
          </p:cNvPr>
          <p:cNvSpPr txBox="1">
            <a:spLocks/>
          </p:cNvSpPr>
          <p:nvPr/>
        </p:nvSpPr>
        <p:spPr>
          <a:xfrm>
            <a:off x="7227047" y="1413494"/>
            <a:ext cx="4828034" cy="4031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Архитектура парсинга:</a:t>
            </a:r>
            <a:endParaRPr lang="ru-RU" sz="2000" dirty="0"/>
          </a:p>
          <a:p>
            <a:r>
              <a:rPr lang="ru-RU" sz="2000" b="1" dirty="0"/>
              <a:t>10</a:t>
            </a:r>
            <a:r>
              <a:rPr lang="ru-RU" sz="2000" dirty="0"/>
              <a:t> Автономных модулей сбора данных.</a:t>
            </a:r>
          </a:p>
          <a:p>
            <a:r>
              <a:rPr lang="ru-RU" sz="2000" dirty="0"/>
              <a:t>Автоматизированный планировщик.</a:t>
            </a:r>
          </a:p>
          <a:p>
            <a:r>
              <a:rPr lang="ru-RU" sz="2000" dirty="0"/>
              <a:t>Защита от блокировок по IP.</a:t>
            </a:r>
          </a:p>
          <a:p>
            <a:pPr marL="0" indent="0">
              <a:buNone/>
            </a:pPr>
            <a:r>
              <a:rPr lang="ru-RU" sz="2000" b="1" dirty="0"/>
              <a:t>Слой фильтрации:</a:t>
            </a:r>
            <a:endParaRPr lang="ru-RU" sz="2000" dirty="0"/>
          </a:p>
          <a:p>
            <a:r>
              <a:rPr lang="ru-RU" sz="2000" dirty="0"/>
              <a:t>Фильтрация событий всех источников</a:t>
            </a:r>
            <a:r>
              <a:rPr lang="en-US" sz="2000" dirty="0"/>
              <a:t>.</a:t>
            </a:r>
            <a:endParaRPr lang="ru-RU" sz="2000" dirty="0"/>
          </a:p>
          <a:p>
            <a:r>
              <a:rPr lang="ru-RU" sz="2000" dirty="0"/>
              <a:t>Валидация типов данных (</a:t>
            </a:r>
            <a:r>
              <a:rPr lang="ru-RU" sz="2000" dirty="0" err="1"/>
              <a:t>Pydantic</a:t>
            </a:r>
            <a:r>
              <a:rPr lang="ru-RU" sz="2000" dirty="0"/>
              <a:t>).</a:t>
            </a:r>
          </a:p>
          <a:p>
            <a:pPr marL="0" indent="0">
              <a:buNone/>
            </a:pPr>
            <a:r>
              <a:rPr lang="ru-RU" sz="2000" b="1" dirty="0"/>
              <a:t>Текущий объем БД:</a:t>
            </a:r>
            <a:endParaRPr lang="ru-RU" sz="2000" dirty="0"/>
          </a:p>
          <a:p>
            <a:r>
              <a:rPr lang="ru-RU" sz="2000" dirty="0"/>
              <a:t>Агрегировано </a:t>
            </a:r>
            <a:r>
              <a:rPr lang="en-US" sz="2000" dirty="0"/>
              <a:t>~</a:t>
            </a:r>
            <a:r>
              <a:rPr lang="ru-RU" sz="2000" b="1" dirty="0"/>
              <a:t>1 </a:t>
            </a:r>
            <a:r>
              <a:rPr lang="en-US" sz="2000" b="1" dirty="0"/>
              <a:t>400</a:t>
            </a:r>
            <a:r>
              <a:rPr lang="ru-RU" sz="2000" dirty="0"/>
              <a:t> средств размещения и </a:t>
            </a:r>
            <a:r>
              <a:rPr lang="en-US" sz="2000" dirty="0"/>
              <a:t>~</a:t>
            </a:r>
            <a:r>
              <a:rPr lang="en-US" sz="2000" b="1" dirty="0"/>
              <a:t>400</a:t>
            </a:r>
            <a:r>
              <a:rPr lang="ru-RU" sz="2000" dirty="0"/>
              <a:t> 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77390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529D-08A7-CD3C-E27E-62FE79DC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4A17B-4163-07AA-6E26-F067249F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4: Ансамблевый метод прогнозирования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8BB60C-D83D-67DA-5BCF-CF3F5A57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6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486539-E970-E706-F671-231DBA5C6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38" y="1862137"/>
            <a:ext cx="10868025" cy="3133725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1BA109A8-9EB0-600B-7B3B-DD7B05AD1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562" y="5358067"/>
            <a:ext cx="10772775" cy="8507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Рисунок 4 – Конвейер ансамблевого прогнозирования: от исходных данных через инженерию признаков к объединению прогнозов трёх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160964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0F3B-C318-3326-CDE6-61DB5031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1D0CE-3F16-12CB-53BE-F0E47B1E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5: Архитектура </a:t>
            </a:r>
            <a:r>
              <a:rPr lang="en-US" b="1" dirty="0"/>
              <a:t>AI</a:t>
            </a:r>
            <a:r>
              <a:rPr lang="ru-RU" b="1" dirty="0"/>
              <a:t>-Агента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C9E16B-A597-A4E3-B1C2-B00CBC33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7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FB2510-21F7-8A62-3DEB-5A0EC9802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987" y="1652587"/>
            <a:ext cx="7820025" cy="3552825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DAA79749-ECD7-0C82-E28E-9343F4FBA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5987" y="5448447"/>
            <a:ext cx="7820025" cy="824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Рисунок 5 – Схема состояний интеллектуального агента</a:t>
            </a:r>
          </a:p>
        </p:txBody>
      </p:sp>
    </p:spTree>
    <p:extLst>
      <p:ext uri="{BB962C8B-B14F-4D97-AF65-F5344CB8AC3E}">
        <p14:creationId xmlns:p14="http://schemas.microsoft.com/office/powerpoint/2010/main" val="118497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B534-C422-B70B-FBA3-F7F59AA2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2E25F-09B6-F7C3-4368-20F82EBB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6: Веб-интерфейс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002A33-E317-ED67-3084-1B7A398A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8</a:t>
            </a:fld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1F8B0B8-472D-34B5-4982-27985CCA9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8090" y="5948909"/>
            <a:ext cx="6327110" cy="824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Рисунок 5 – Главная страница веб-приложения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FAF364-4EBB-0245-702C-54C6462D8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210" y="1071345"/>
            <a:ext cx="7185630" cy="47455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D86526-FFD0-1E22-20D8-AB6F77A9C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3" r="86378" b="47745"/>
          <a:stretch>
            <a:fillRect/>
          </a:stretch>
        </p:blipFill>
        <p:spPr>
          <a:xfrm>
            <a:off x="8902731" y="522704"/>
            <a:ext cx="2146270" cy="4737934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EF6C5E68-6921-B95B-DD9D-8C0A3468AB16}"/>
              </a:ext>
            </a:extLst>
          </p:cNvPr>
          <p:cNvSpPr txBox="1">
            <a:spLocks/>
          </p:cNvSpPr>
          <p:nvPr/>
        </p:nvSpPr>
        <p:spPr>
          <a:xfrm>
            <a:off x="8671592" y="5510380"/>
            <a:ext cx="2608548" cy="824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/>
              <a:t>Рисунок 6 – Меню навигации</a:t>
            </a:r>
          </a:p>
        </p:txBody>
      </p:sp>
    </p:spTree>
    <p:extLst>
      <p:ext uri="{BB962C8B-B14F-4D97-AF65-F5344CB8AC3E}">
        <p14:creationId xmlns:p14="http://schemas.microsoft.com/office/powerpoint/2010/main" val="334990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0AAA-A49A-01B3-F99D-1665A1BB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RF Dewi Expanded" panose="00000505000000000000"/>
              </a:rPr>
              <a:t>Заключение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3926A0-61C7-6071-BF0D-50FC39FEB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91577" y="4471416"/>
            <a:ext cx="2669575" cy="1563623"/>
          </a:xfrm>
        </p:spPr>
        <p:txBody>
          <a:bodyPr>
            <a:noAutofit/>
          </a:bodyPr>
          <a:lstStyle/>
          <a:p>
            <a:pPr algn="ctr"/>
            <a:r>
              <a:rPr lang="ru-RU" sz="2000" dirty="0"/>
              <a:t>Ссылка</a:t>
            </a:r>
            <a:r>
              <a:rPr lang="en-US" sz="2000" dirty="0"/>
              <a:t>/QR</a:t>
            </a:r>
            <a:r>
              <a:rPr lang="ru-RU" sz="2000" dirty="0"/>
              <a:t> на облачное хранилище со скриншотами веб-приложения и видеообзором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44E8A8-443E-E8D2-22DB-E5A77F16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70B870C-972A-AC14-3933-2D0605AFF27F}"/>
              </a:ext>
            </a:extLst>
          </p:cNvPr>
          <p:cNvSpPr txBox="1">
            <a:spLocks/>
          </p:cNvSpPr>
          <p:nvPr/>
        </p:nvSpPr>
        <p:spPr>
          <a:xfrm>
            <a:off x="370393" y="1363473"/>
            <a:ext cx="8238618" cy="52860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B5185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base">
              <a:buFont typeface="+mj-lt"/>
              <a:buAutoNum type="arabicPeriod"/>
            </a:pPr>
            <a:r>
              <a:rPr lang="ru-RU" b="0" dirty="0">
                <a:solidFill>
                  <a:schemeClr val="tx1"/>
                </a:solidFill>
              </a:rPr>
              <a:t>Исследовать предметную область мониторинга туристической активности и провести анализ существующих аналитических решений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0" dirty="0">
                <a:solidFill>
                  <a:schemeClr val="tx1"/>
                </a:solidFill>
              </a:rPr>
              <a:t>Обосновать выбор технологий, дизайн-инструментов и средств визуализации данных для разработки системы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0" dirty="0">
                <a:solidFill>
                  <a:schemeClr val="tx1"/>
                </a:solidFill>
              </a:rPr>
              <a:t>Спроектировать и реализовать подсистему автоматизированного сбора данных из туристических агрегаторов и порталов событий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0" dirty="0">
                <a:solidFill>
                  <a:schemeClr val="tx1"/>
                </a:solidFill>
              </a:rPr>
              <a:t>Разработать ансамблевый метод прогнозирования заполняемости средств размещения и модуль его реализующий с визуальной аналитикой результатов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0" dirty="0">
                <a:solidFill>
                  <a:schemeClr val="tx1"/>
                </a:solidFill>
              </a:rPr>
              <a:t>Спроектировать архитектуру интеллектуальной аналитической системы (ИАС) и реализовать систему, ее взаимодействие с интеллектуальным агентом и веб-интерфейс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3BBC25-A27A-E44D-A43F-2BA5A5750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577" y="1277448"/>
            <a:ext cx="2464100" cy="2464100"/>
          </a:xfrm>
          <a:prstGeom prst="rect">
            <a:avLst/>
          </a:prstGeom>
        </p:spPr>
      </p:pic>
      <p:sp>
        <p:nvSpPr>
          <p:cNvPr id="13" name="Текст 4">
            <a:extLst>
              <a:ext uri="{FF2B5EF4-FFF2-40B4-BE49-F238E27FC236}">
                <a16:creationId xmlns:a16="http://schemas.microsoft.com/office/drawing/2014/main" id="{3A09DEFE-AA24-9E3C-4028-F3B312B7476D}"/>
              </a:ext>
            </a:extLst>
          </p:cNvPr>
          <p:cNvSpPr txBox="1">
            <a:spLocks/>
          </p:cNvSpPr>
          <p:nvPr/>
        </p:nvSpPr>
        <p:spPr>
          <a:xfrm>
            <a:off x="9291577" y="3652793"/>
            <a:ext cx="2669575" cy="7073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https://disk.yandex.ru/d/v_GAmtcxMVp3fg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2951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59B52-ACEA-5707-4878-2B6F1F08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планы на реализацию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1CCC8A9-2713-D13A-513A-8E25380C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План минимум</a:t>
            </a:r>
            <a:r>
              <a:rPr lang="en-US" sz="2400" dirty="0"/>
              <a:t>:</a:t>
            </a:r>
            <a:endParaRPr lang="ru-RU" sz="2400" dirty="0"/>
          </a:p>
          <a:p>
            <a:r>
              <a:rPr lang="ru-RU" sz="2000" dirty="0"/>
              <a:t>Оптимизация дашбордов</a:t>
            </a:r>
          </a:p>
          <a:p>
            <a:r>
              <a:rPr lang="ru-RU" sz="2000" dirty="0"/>
              <a:t>Улучшение и доработка </a:t>
            </a:r>
            <a:r>
              <a:rPr lang="en-US" sz="2000" dirty="0"/>
              <a:t>UX/UI</a:t>
            </a:r>
            <a:endParaRPr lang="ru-RU" sz="2000" dirty="0"/>
          </a:p>
          <a:p>
            <a:r>
              <a:rPr lang="ru-RU" sz="2000" dirty="0"/>
              <a:t>Гео-аналитика: работа с картой</a:t>
            </a:r>
          </a:p>
          <a:p>
            <a:r>
              <a:rPr lang="ru-RU" sz="2000" dirty="0"/>
              <a:t>Улучшение качества сырых данных парсинга</a:t>
            </a:r>
          </a:p>
          <a:p>
            <a:r>
              <a:rPr lang="ru-RU" sz="2000" dirty="0"/>
              <a:t>Повышение стабильности сбора</a:t>
            </a:r>
          </a:p>
          <a:p>
            <a:r>
              <a:rPr lang="ru-RU" sz="2000" dirty="0"/>
              <a:t>Накопление пикового сезона</a:t>
            </a:r>
          </a:p>
          <a:p>
            <a:r>
              <a:rPr lang="ru-RU" sz="2000" dirty="0" err="1"/>
              <a:t>Реалтайм</a:t>
            </a:r>
            <a:r>
              <a:rPr lang="ru-RU" sz="2000" dirty="0"/>
              <a:t>-</a:t>
            </a:r>
            <a:r>
              <a:rPr lang="en-US" sz="2000" dirty="0"/>
              <a:t>UX </a:t>
            </a:r>
            <a:r>
              <a:rPr lang="ru-RU" sz="2000" dirty="0"/>
              <a:t>для агента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EBF0F0-2699-DCDD-1F87-C3ADF8B9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10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8D618D8-CD25-CF22-4F2E-99D28C2B19B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6"/>
            <a:ext cx="3654262" cy="1344169"/>
          </a:xfrm>
        </p:spPr>
        <p:txBody>
          <a:bodyPr>
            <a:normAutofit fontScale="47500" lnSpcReduction="20000"/>
          </a:bodyPr>
          <a:lstStyle/>
          <a:p>
            <a:r>
              <a:rPr lang="ru-RU" sz="5100" dirty="0"/>
              <a:t>План максимум</a:t>
            </a:r>
            <a:r>
              <a:rPr lang="en-US" sz="51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200" dirty="0"/>
              <a:t>Фоновое автоматическое переобучение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200" dirty="0"/>
              <a:t>Масштабирование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Объект 8">
            <a:extLst>
              <a:ext uri="{FF2B5EF4-FFF2-40B4-BE49-F238E27FC236}">
                <a16:creationId xmlns:a16="http://schemas.microsoft.com/office/drawing/2014/main" id="{8CC7565C-B8C3-4C1A-952B-311DFF57F8DB}"/>
              </a:ext>
            </a:extLst>
          </p:cNvPr>
          <p:cNvSpPr txBox="1">
            <a:spLocks/>
          </p:cNvSpPr>
          <p:nvPr/>
        </p:nvSpPr>
        <p:spPr>
          <a:xfrm>
            <a:off x="3788703" y="5600910"/>
            <a:ext cx="3654262" cy="134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0B5185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Апгрейд векторной базы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Отсев аномалий в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6331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87E6B-038B-D811-26D6-89EA132A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проделанной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06663-537D-F104-0282-6B93281A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B8D0F0-5146-09E2-2F64-846C9D38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https://disk.yandex.ru/i/hK8zf_9uJVLQhg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E752CE-A0EF-69E6-EB4B-62604E614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191" y="2354389"/>
            <a:ext cx="3379617" cy="337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5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559AC-1277-C0F6-BBCA-7217A9358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519176-092F-52AC-9D34-1A0DF84F5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D0E801-DA1C-9396-099A-DB5F8CCD51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 dirty="0"/>
              <a:t>Иркутск 2026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022143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514</Words>
  <Application>Microsoft Office PowerPoint</Application>
  <PresentationFormat>Широкоэкранный</PresentationFormat>
  <Paragraphs>77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DengXian</vt:lpstr>
      <vt:lpstr>DengXian Light</vt:lpstr>
      <vt:lpstr>Aptos</vt:lpstr>
      <vt:lpstr>Arial</vt:lpstr>
      <vt:lpstr>RF Dewi Expanded</vt:lpstr>
      <vt:lpstr>Тема Office</vt:lpstr>
      <vt:lpstr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vt:lpstr>
      <vt:lpstr>Цель и задачи работы </vt:lpstr>
      <vt:lpstr>Этап 1: Исследование предметной области</vt:lpstr>
      <vt:lpstr>Этап 2: Обоснование технологий и архитектура</vt:lpstr>
      <vt:lpstr>Этап 3: Подсистема сбора данных</vt:lpstr>
      <vt:lpstr>Этап 4: Ансамблевый метод прогнозирования</vt:lpstr>
      <vt:lpstr>Этап 5: Архитектура AI-Агента</vt:lpstr>
      <vt:lpstr>Этап 6: Веб-интерфейс</vt:lpstr>
      <vt:lpstr>Заключение</vt:lpstr>
      <vt:lpstr>Дальнейшие планы на реализацию</vt:lpstr>
      <vt:lpstr>Демонстрация проделанной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 Ugorskaya</dc:creator>
  <cp:lastModifiedBy>Admin</cp:lastModifiedBy>
  <cp:revision>13</cp:revision>
  <dcterms:created xsi:type="dcterms:W3CDTF">2026-03-28T01:42:32Z</dcterms:created>
  <dcterms:modified xsi:type="dcterms:W3CDTF">2026-04-01T21:21:33Z</dcterms:modified>
</cp:coreProperties>
</file>