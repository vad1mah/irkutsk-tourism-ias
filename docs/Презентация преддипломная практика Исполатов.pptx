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70" r:id="rId3"/>
    <p:sldId id="258" r:id="rId4"/>
    <p:sldId id="279" r:id="rId5"/>
    <p:sldId id="260" r:id="rId6"/>
    <p:sldId id="261" r:id="rId7"/>
    <p:sldId id="280" r:id="rId8"/>
    <p:sldId id="263" r:id="rId9"/>
    <p:sldId id="281" r:id="rId10"/>
    <p:sldId id="265" r:id="rId11"/>
    <p:sldId id="266" r:id="rId12"/>
    <p:sldId id="282" r:id="rId13"/>
    <p:sldId id="268" r:id="rId14"/>
    <p:sldId id="283" r:id="rId15"/>
    <p:sldId id="284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7166D-7042-4F77-B239-E735776E0D37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57829-166E-46DB-8DB8-7EC2789CE5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348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  <a:r>
              <a:rPr lang="en-US" dirty="0"/>
              <a:t>,</a:t>
            </a:r>
            <a:r>
              <a:rPr lang="ru-RU" dirty="0"/>
              <a:t> новизна и практическая значимость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57829-166E-46DB-8DB8-7EC2789CE5D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778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rgbClr val="0B51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D4A145-3478-37B8-C711-92DFAFB9E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4660"/>
            <a:ext cx="9144000" cy="2063059"/>
          </a:xfrm>
          <a:prstGeom prst="rect">
            <a:avLst/>
          </a:prstGeom>
        </p:spPr>
        <p:txBody>
          <a:bodyPr anchor="ctr"/>
          <a:lstStyle>
            <a:lvl1pPr algn="ctr">
              <a:defRPr sz="3600">
                <a:solidFill>
                  <a:schemeClr val="bg1"/>
                </a:solidFill>
                <a:latin typeface="RF Dewi Expanded" panose="0000050500000000000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0C948D-8831-7C41-FEDD-2CFE41423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5239" y="5452041"/>
            <a:ext cx="9144000" cy="493295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RF Dewi Expanded" panose="0000050500000000000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8251AD1D-CD4E-82E5-CEF4-D46AAE9324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20" y="441925"/>
            <a:ext cx="4098290" cy="1026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3A60BBA7-E934-250B-24E7-E0C8143B77CC}"/>
              </a:ext>
            </a:extLst>
          </p:cNvPr>
          <p:cNvPicPr/>
          <p:nvPr userDrawn="1"/>
        </p:nvPicPr>
        <p:blipFill>
          <a:blip r:embed="rId3" cstate="print">
            <a:biLevel thresh="25000"/>
          </a:blip>
          <a:stretch>
            <a:fillRect/>
          </a:stretch>
        </p:blipFill>
        <p:spPr>
          <a:xfrm rot="5400000">
            <a:off x="7789213" y="-1639237"/>
            <a:ext cx="1027995" cy="5188936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5128B988-8D2B-0A0A-7956-5CA04C0FDB44}"/>
              </a:ext>
            </a:extLst>
          </p:cNvPr>
          <p:cNvGrpSpPr/>
          <p:nvPr userDrawn="1"/>
        </p:nvGrpSpPr>
        <p:grpSpPr>
          <a:xfrm>
            <a:off x="564673" y="2855583"/>
            <a:ext cx="11425885" cy="3667982"/>
            <a:chOff x="564673" y="2855583"/>
            <a:chExt cx="11425885" cy="3667982"/>
          </a:xfrm>
        </p:grpSpPr>
        <p:cxnSp>
          <p:nvCxnSpPr>
            <p:cNvPr id="12" name="Прямая со стрелкой 11">
              <a:extLst>
                <a:ext uri="{FF2B5EF4-FFF2-40B4-BE49-F238E27FC236}">
                  <a16:creationId xmlns:a16="http://schemas.microsoft.com/office/drawing/2014/main" id="{D2FE3AFF-2190-5DF6-E713-EC11570E0EF8}"/>
                </a:ext>
              </a:extLst>
            </p:cNvPr>
            <p:cNvCxnSpPr/>
            <p:nvPr/>
          </p:nvCxnSpPr>
          <p:spPr>
            <a:xfrm>
              <a:off x="11591293" y="2855583"/>
              <a:ext cx="0" cy="3268717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 стрелкой 12">
              <a:extLst>
                <a:ext uri="{FF2B5EF4-FFF2-40B4-BE49-F238E27FC236}">
                  <a16:creationId xmlns:a16="http://schemas.microsoft.com/office/drawing/2014/main" id="{8C7B5F83-4BE2-1383-09AC-DC9BC62E2041}"/>
                </a:ext>
              </a:extLst>
            </p:cNvPr>
            <p:cNvCxnSpPr>
              <a:cxnSpLocks/>
            </p:cNvCxnSpPr>
            <p:nvPr/>
          </p:nvCxnSpPr>
          <p:spPr>
            <a:xfrm>
              <a:off x="564673" y="6133970"/>
              <a:ext cx="11026620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CF99B4C7-2BBC-266D-B812-2154AFAF7C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92028" y="5725035"/>
              <a:ext cx="798530" cy="798530"/>
            </a:xfrm>
            <a:prstGeom prst="rect">
              <a:avLst/>
            </a:prstGeom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957781B-D2D6-9782-79A3-43B11CB6FC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362086" y="5998606"/>
              <a:ext cx="458415" cy="251389"/>
            </a:xfrm>
            <a:prstGeom prst="rect">
              <a:avLst/>
            </a:prstGeom>
          </p:spPr>
        </p:pic>
      </p:grp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685968CD-0494-A8CA-26FF-2E49190B0E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420" y="6290672"/>
            <a:ext cx="2743200" cy="365125"/>
          </a:xfrm>
        </p:spPr>
        <p:txBody>
          <a:bodyPr/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Иркутск 2026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901083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2" y="1389170"/>
            <a:ext cx="11435516" cy="49201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074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2" y="1389170"/>
            <a:ext cx="5419054" cy="492019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B89224F-0C3D-94BB-2D8D-87D816C05CA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397596"/>
            <a:ext cx="5717758" cy="492019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04608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247444"/>
            <a:ext cx="1085363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2" y="1389170"/>
            <a:ext cx="11435516" cy="49201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25F08DE-D437-9522-B4A9-22636A7C59C4}"/>
              </a:ext>
            </a:extLst>
          </p:cNvPr>
          <p:cNvPicPr/>
          <p:nvPr userDrawn="1"/>
        </p:nvPicPr>
        <p:blipFill>
          <a:blip r:embed="rId2" cstate="print">
            <a:alphaModFix/>
            <a:biLevel thresh="25000"/>
          </a:blip>
          <a:srcRect l="-1733" t="83724" r="-19869" b="1"/>
          <a:stretch>
            <a:fillRect/>
          </a:stretch>
        </p:blipFill>
        <p:spPr>
          <a:xfrm rot="5400000">
            <a:off x="143466" y="290669"/>
            <a:ext cx="872985" cy="58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46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2" y="1389170"/>
            <a:ext cx="11435516" cy="340592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DB9229DE-E461-1FB7-91D5-EC698BD3E9F7}"/>
              </a:ext>
            </a:extLst>
          </p:cNvPr>
          <p:cNvCxnSpPr>
            <a:cxnSpLocks/>
          </p:cNvCxnSpPr>
          <p:nvPr userDrawn="1"/>
        </p:nvCxnSpPr>
        <p:spPr>
          <a:xfrm>
            <a:off x="-50157" y="5030743"/>
            <a:ext cx="12292314" cy="0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Объект 2">
            <a:extLst>
              <a:ext uri="{FF2B5EF4-FFF2-40B4-BE49-F238E27FC236}">
                <a16:creationId xmlns:a16="http://schemas.microsoft.com/office/drawing/2014/main" id="{66CA4CD4-8EA6-93D5-A9E6-18976DE7C5A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78242" y="5266387"/>
            <a:ext cx="11435516" cy="911798"/>
          </a:xfrm>
          <a:prstGeom prst="rect">
            <a:avLst/>
          </a:prstGeom>
        </p:spPr>
        <p:txBody>
          <a:bodyPr/>
          <a:lstStyle>
            <a:lvl1pPr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50B285-82E5-5CDF-3303-305B3C7E9B2C}"/>
              </a:ext>
            </a:extLst>
          </p:cNvPr>
          <p:cNvGrpSpPr/>
          <p:nvPr userDrawn="1"/>
        </p:nvGrpSpPr>
        <p:grpSpPr>
          <a:xfrm rot="5400000">
            <a:off x="-2841103" y="3849677"/>
            <a:ext cx="6008064" cy="256410"/>
            <a:chOff x="351141" y="6413828"/>
            <a:chExt cx="6008064" cy="256410"/>
          </a:xfrm>
        </p:grpSpPr>
        <p:sp>
          <p:nvSpPr>
            <p:cNvPr id="6" name="Ромб 5">
              <a:extLst>
                <a:ext uri="{FF2B5EF4-FFF2-40B4-BE49-F238E27FC236}">
                  <a16:creationId xmlns:a16="http://schemas.microsoft.com/office/drawing/2014/main" id="{84E27F7C-EA85-DF9A-EBD7-2C5E04D0143E}"/>
                </a:ext>
              </a:extLst>
            </p:cNvPr>
            <p:cNvSpPr/>
            <p:nvPr userDrawn="1"/>
          </p:nvSpPr>
          <p:spPr>
            <a:xfrm>
              <a:off x="351141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Ромб 14">
              <a:extLst>
                <a:ext uri="{FF2B5EF4-FFF2-40B4-BE49-F238E27FC236}">
                  <a16:creationId xmlns:a16="http://schemas.microsoft.com/office/drawing/2014/main" id="{0B843DA0-2B07-0B87-1502-FF405D8DC018}"/>
                </a:ext>
              </a:extLst>
            </p:cNvPr>
            <p:cNvSpPr/>
            <p:nvPr userDrawn="1"/>
          </p:nvSpPr>
          <p:spPr>
            <a:xfrm>
              <a:off x="4289960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Ромб 16">
              <a:extLst>
                <a:ext uri="{FF2B5EF4-FFF2-40B4-BE49-F238E27FC236}">
                  <a16:creationId xmlns:a16="http://schemas.microsoft.com/office/drawing/2014/main" id="{20E657EE-5CA8-1A5D-2786-6680ECCBDF85}"/>
                </a:ext>
              </a:extLst>
            </p:cNvPr>
            <p:cNvSpPr/>
            <p:nvPr userDrawn="1"/>
          </p:nvSpPr>
          <p:spPr>
            <a:xfrm>
              <a:off x="6097803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790911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42" y="1389170"/>
            <a:ext cx="11435516" cy="340592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DB9229DE-E461-1FB7-91D5-EC698BD3E9F7}"/>
              </a:ext>
            </a:extLst>
          </p:cNvPr>
          <p:cNvCxnSpPr>
            <a:cxnSpLocks/>
          </p:cNvCxnSpPr>
          <p:nvPr userDrawn="1"/>
        </p:nvCxnSpPr>
        <p:spPr>
          <a:xfrm>
            <a:off x="-50157" y="5030743"/>
            <a:ext cx="12292314" cy="0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Объект 2">
            <a:extLst>
              <a:ext uri="{FF2B5EF4-FFF2-40B4-BE49-F238E27FC236}">
                <a16:creationId xmlns:a16="http://schemas.microsoft.com/office/drawing/2014/main" id="{66CA4CD4-8EA6-93D5-A9E6-18976DE7C5A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78242" y="5266387"/>
            <a:ext cx="11435516" cy="911798"/>
          </a:xfrm>
          <a:prstGeom prst="rect">
            <a:avLst/>
          </a:prstGeom>
        </p:spPr>
        <p:txBody>
          <a:bodyPr/>
          <a:lstStyle>
            <a:lvl1pPr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50B285-82E5-5CDF-3303-305B3C7E9B2C}"/>
              </a:ext>
            </a:extLst>
          </p:cNvPr>
          <p:cNvGrpSpPr/>
          <p:nvPr userDrawn="1"/>
        </p:nvGrpSpPr>
        <p:grpSpPr>
          <a:xfrm rot="5400000">
            <a:off x="-2841103" y="3849677"/>
            <a:ext cx="6008064" cy="256410"/>
            <a:chOff x="351141" y="6413828"/>
            <a:chExt cx="6008064" cy="256410"/>
          </a:xfrm>
        </p:grpSpPr>
        <p:sp>
          <p:nvSpPr>
            <p:cNvPr id="6" name="Ромб 5">
              <a:extLst>
                <a:ext uri="{FF2B5EF4-FFF2-40B4-BE49-F238E27FC236}">
                  <a16:creationId xmlns:a16="http://schemas.microsoft.com/office/drawing/2014/main" id="{84E27F7C-EA85-DF9A-EBD7-2C5E04D0143E}"/>
                </a:ext>
              </a:extLst>
            </p:cNvPr>
            <p:cNvSpPr/>
            <p:nvPr userDrawn="1"/>
          </p:nvSpPr>
          <p:spPr>
            <a:xfrm>
              <a:off x="351141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Ромб 14">
              <a:extLst>
                <a:ext uri="{FF2B5EF4-FFF2-40B4-BE49-F238E27FC236}">
                  <a16:creationId xmlns:a16="http://schemas.microsoft.com/office/drawing/2014/main" id="{0B843DA0-2B07-0B87-1502-FF405D8DC018}"/>
                </a:ext>
              </a:extLst>
            </p:cNvPr>
            <p:cNvSpPr/>
            <p:nvPr userDrawn="1"/>
          </p:nvSpPr>
          <p:spPr>
            <a:xfrm>
              <a:off x="4289960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Ромб 16">
              <a:extLst>
                <a:ext uri="{FF2B5EF4-FFF2-40B4-BE49-F238E27FC236}">
                  <a16:creationId xmlns:a16="http://schemas.microsoft.com/office/drawing/2014/main" id="{20E657EE-5CA8-1A5D-2786-6680ECCBDF85}"/>
                </a:ext>
              </a:extLst>
            </p:cNvPr>
            <p:cNvSpPr/>
            <p:nvPr userDrawn="1"/>
          </p:nvSpPr>
          <p:spPr>
            <a:xfrm>
              <a:off x="6097803" y="6413828"/>
              <a:ext cx="261402" cy="256410"/>
            </a:xfrm>
            <a:prstGeom prst="diamond">
              <a:avLst/>
            </a:prstGeom>
            <a:solidFill>
              <a:srgbClr val="0B5185"/>
            </a:solidFill>
            <a:ln>
              <a:solidFill>
                <a:srgbClr val="0B51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14D9628F-BA65-85C5-CA18-FDA108C06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247444"/>
            <a:ext cx="1085363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object 4">
            <a:extLst>
              <a:ext uri="{FF2B5EF4-FFF2-40B4-BE49-F238E27FC236}">
                <a16:creationId xmlns:a16="http://schemas.microsoft.com/office/drawing/2014/main" id="{877A6010-6576-464C-9D73-B8F7350833F9}"/>
              </a:ext>
            </a:extLst>
          </p:cNvPr>
          <p:cNvPicPr/>
          <p:nvPr userDrawn="1"/>
        </p:nvPicPr>
        <p:blipFill>
          <a:blip r:embed="rId2" cstate="print">
            <a:alphaModFix/>
            <a:biLevel thresh="25000"/>
          </a:blip>
          <a:srcRect l="-1733" t="83724" r="-19869" b="1"/>
          <a:stretch>
            <a:fillRect/>
          </a:stretch>
        </p:blipFill>
        <p:spPr>
          <a:xfrm rot="5400000">
            <a:off x="143466" y="290669"/>
            <a:ext cx="872985" cy="58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69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0728" y="1389170"/>
            <a:ext cx="8493030" cy="4787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6AF2EF9-3F90-1D38-B779-B75BBC04E83B}"/>
              </a:ext>
            </a:extLst>
          </p:cNvPr>
          <p:cNvCxnSpPr>
            <a:cxnSpLocks/>
          </p:cNvCxnSpPr>
          <p:nvPr userDrawn="1"/>
        </p:nvCxnSpPr>
        <p:spPr>
          <a:xfrm>
            <a:off x="2972548" y="1105124"/>
            <a:ext cx="0" cy="5752876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бъект 2">
            <a:extLst>
              <a:ext uri="{FF2B5EF4-FFF2-40B4-BE49-F238E27FC236}">
                <a16:creationId xmlns:a16="http://schemas.microsoft.com/office/drawing/2014/main" id="{751BD6AD-7D74-4AD4-0A6A-CE8A83C182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3212" y="1389170"/>
            <a:ext cx="2246125" cy="5276806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12032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3924" y="2021840"/>
            <a:ext cx="7119834" cy="415512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6AF2EF9-3F90-1D38-B779-B75BBC04E83B}"/>
              </a:ext>
            </a:extLst>
          </p:cNvPr>
          <p:cNvCxnSpPr>
            <a:cxnSpLocks/>
          </p:cNvCxnSpPr>
          <p:nvPr userDrawn="1"/>
        </p:nvCxnSpPr>
        <p:spPr>
          <a:xfrm>
            <a:off x="4323828" y="1105124"/>
            <a:ext cx="0" cy="5752876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бъект 2">
            <a:extLst>
              <a:ext uri="{FF2B5EF4-FFF2-40B4-BE49-F238E27FC236}">
                <a16:creationId xmlns:a16="http://schemas.microsoft.com/office/drawing/2014/main" id="{751BD6AD-7D74-4AD4-0A6A-CE8A83C182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3212" y="1389170"/>
            <a:ext cx="3568705" cy="4091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0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5F90A67-237D-6C1B-8C29-FD10E875D6B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735852" y="1389170"/>
            <a:ext cx="3446992" cy="4091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0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A306F97-5A83-35CB-F813-E7FD3010CF3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88402" y="2021839"/>
            <a:ext cx="3542323" cy="415512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06344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2E920-49E4-7E03-4729-DD465C901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0728" y="1389170"/>
            <a:ext cx="8493030" cy="4787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6AF2EF9-3F90-1D38-B779-B75BBC04E83B}"/>
              </a:ext>
            </a:extLst>
          </p:cNvPr>
          <p:cNvCxnSpPr>
            <a:cxnSpLocks/>
          </p:cNvCxnSpPr>
          <p:nvPr userDrawn="1"/>
        </p:nvCxnSpPr>
        <p:spPr>
          <a:xfrm>
            <a:off x="2972548" y="1105124"/>
            <a:ext cx="0" cy="5752876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бъект 2">
            <a:extLst>
              <a:ext uri="{FF2B5EF4-FFF2-40B4-BE49-F238E27FC236}">
                <a16:creationId xmlns:a16="http://schemas.microsoft.com/office/drawing/2014/main" id="{751BD6AD-7D74-4AD4-0A6A-CE8A83C182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3212" y="1389170"/>
            <a:ext cx="2246125" cy="5276806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97077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один усеченный угол 3">
            <a:extLst>
              <a:ext uri="{FF2B5EF4-FFF2-40B4-BE49-F238E27FC236}">
                <a16:creationId xmlns:a16="http://schemas.microsoft.com/office/drawing/2014/main" id="{029D64A9-CC0B-0D02-4E37-9F22D2123194}"/>
              </a:ext>
            </a:extLst>
          </p:cNvPr>
          <p:cNvSpPr/>
          <p:nvPr userDrawn="1"/>
        </p:nvSpPr>
        <p:spPr>
          <a:xfrm>
            <a:off x="292777" y="3886251"/>
            <a:ext cx="5729592" cy="2527578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1F14A1-44B8-92D9-D0FC-0EAEA47DB8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0000"/>
          <a:stretch>
            <a:fillRect/>
          </a:stretch>
        </p:blipFill>
        <p:spPr>
          <a:xfrm>
            <a:off x="5638185" y="3425954"/>
            <a:ext cx="399266" cy="798530"/>
          </a:xfrm>
          <a:prstGeom prst="rect">
            <a:avLst/>
          </a:prstGeom>
        </p:spPr>
      </p:pic>
      <p:sp>
        <p:nvSpPr>
          <p:cNvPr id="6" name="Прямоугольник: один усеченный угол 5">
            <a:extLst>
              <a:ext uri="{FF2B5EF4-FFF2-40B4-BE49-F238E27FC236}">
                <a16:creationId xmlns:a16="http://schemas.microsoft.com/office/drawing/2014/main" id="{E052E9CC-9059-F1B0-1644-31F9C6CFDC57}"/>
              </a:ext>
            </a:extLst>
          </p:cNvPr>
          <p:cNvSpPr/>
          <p:nvPr userDrawn="1"/>
        </p:nvSpPr>
        <p:spPr>
          <a:xfrm flipH="1">
            <a:off x="6160648" y="3026171"/>
            <a:ext cx="5729591" cy="3387657"/>
          </a:xfrm>
          <a:prstGeom prst="snip1Rect">
            <a:avLst>
              <a:gd name="adj" fmla="val 13303"/>
            </a:avLst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7F7DBED-38F4-84E1-E596-A8E3D9E70E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0000"/>
          <a:stretch>
            <a:fillRect/>
          </a:stretch>
        </p:blipFill>
        <p:spPr>
          <a:xfrm rot="10800000">
            <a:off x="6160649" y="2579431"/>
            <a:ext cx="399266" cy="811902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3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Прямоугольник: один усеченный угол 15">
            <a:extLst>
              <a:ext uri="{FF2B5EF4-FFF2-40B4-BE49-F238E27FC236}">
                <a16:creationId xmlns:a16="http://schemas.microsoft.com/office/drawing/2014/main" id="{66DE0BFD-724C-EE33-7322-F6327273A505}"/>
              </a:ext>
            </a:extLst>
          </p:cNvPr>
          <p:cNvSpPr/>
          <p:nvPr userDrawn="1"/>
        </p:nvSpPr>
        <p:spPr>
          <a:xfrm rot="10800000" flipH="1">
            <a:off x="301752" y="1232819"/>
            <a:ext cx="5729592" cy="2525733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 anchorCtr="1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20" name="Прямоугольник: усеченные противолежащие углы 19">
            <a:extLst>
              <a:ext uri="{FF2B5EF4-FFF2-40B4-BE49-F238E27FC236}">
                <a16:creationId xmlns:a16="http://schemas.microsoft.com/office/drawing/2014/main" id="{C653C613-8071-2CD5-F910-908BE3BC679C}"/>
              </a:ext>
            </a:extLst>
          </p:cNvPr>
          <p:cNvSpPr/>
          <p:nvPr userDrawn="1"/>
        </p:nvSpPr>
        <p:spPr>
          <a:xfrm>
            <a:off x="6160650" y="1232820"/>
            <a:ext cx="5729592" cy="1698400"/>
          </a:xfrm>
          <a:prstGeom prst="snip2DiagRect">
            <a:avLst>
              <a:gd name="adj1" fmla="val 0"/>
              <a:gd name="adj2" fmla="val 26815"/>
            </a:avLst>
          </a:prstGeom>
          <a:noFill/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3DCFB6D-6A0B-2CDC-828A-15D56CA7C6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0000" b="49225"/>
          <a:stretch>
            <a:fillRect/>
          </a:stretch>
        </p:blipFill>
        <p:spPr>
          <a:xfrm rot="16200000">
            <a:off x="11515734" y="1211976"/>
            <a:ext cx="399266" cy="412246"/>
          </a:xfrm>
          <a:prstGeom prst="rect">
            <a:avLst/>
          </a:prstGeom>
        </p:spPr>
      </p:pic>
      <p:sp>
        <p:nvSpPr>
          <p:cNvPr id="25" name="Объект 2">
            <a:extLst>
              <a:ext uri="{FF2B5EF4-FFF2-40B4-BE49-F238E27FC236}">
                <a16:creationId xmlns:a16="http://schemas.microsoft.com/office/drawing/2014/main" id="{10514181-9C75-25A9-7FC5-7938D3894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8242" y="1801065"/>
            <a:ext cx="5550611" cy="1837741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F02F89C5-038B-5063-2217-4E6B6BBFE24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54147" y="4465638"/>
            <a:ext cx="5550611" cy="1853239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Объект 2">
            <a:extLst>
              <a:ext uri="{FF2B5EF4-FFF2-40B4-BE49-F238E27FC236}">
                <a16:creationId xmlns:a16="http://schemas.microsoft.com/office/drawing/2014/main" id="{6FC37832-3A3F-14EF-F64F-4481D17F8EB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29485" y="3697612"/>
            <a:ext cx="5550611" cy="2621265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id="{C6974289-DCDE-E7B1-E042-6DE2ADC0DE0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63147" y="1779553"/>
            <a:ext cx="5550611" cy="1064231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Объект 2">
            <a:extLst>
              <a:ext uri="{FF2B5EF4-FFF2-40B4-BE49-F238E27FC236}">
                <a16:creationId xmlns:a16="http://schemas.microsoft.com/office/drawing/2014/main" id="{7C7A0900-E648-EF8F-B751-65C14D2096E7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78241" y="1306176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Объект 2">
            <a:extLst>
              <a:ext uri="{FF2B5EF4-FFF2-40B4-BE49-F238E27FC236}">
                <a16:creationId xmlns:a16="http://schemas.microsoft.com/office/drawing/2014/main" id="{F1B6D5C2-8F1C-AF1B-2206-05FB63E6FE2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54146" y="3975201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Объект 2">
            <a:extLst>
              <a:ext uri="{FF2B5EF4-FFF2-40B4-BE49-F238E27FC236}">
                <a16:creationId xmlns:a16="http://schemas.microsoft.com/office/drawing/2014/main" id="{2AEB0007-E767-C6AB-9CEC-4F7DB90C0668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263147" y="1342440"/>
            <a:ext cx="5550611" cy="378426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id="{A0EC8309-D45C-C5BA-34B5-DACB9226839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6229485" y="3207629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59268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1F14A1-44B8-92D9-D0FC-0EAEA47DB8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0000"/>
          <a:stretch>
            <a:fillRect/>
          </a:stretch>
        </p:blipFill>
        <p:spPr>
          <a:xfrm>
            <a:off x="5687755" y="3424058"/>
            <a:ext cx="399266" cy="798530"/>
          </a:xfrm>
          <a:prstGeom prst="rect">
            <a:avLst/>
          </a:prstGeom>
        </p:spPr>
      </p:pic>
      <p:sp>
        <p:nvSpPr>
          <p:cNvPr id="6" name="Прямоугольник: один усеченный угол 5">
            <a:extLst>
              <a:ext uri="{FF2B5EF4-FFF2-40B4-BE49-F238E27FC236}">
                <a16:creationId xmlns:a16="http://schemas.microsoft.com/office/drawing/2014/main" id="{E052E9CC-9059-F1B0-1644-31F9C6CFDC57}"/>
              </a:ext>
            </a:extLst>
          </p:cNvPr>
          <p:cNvSpPr/>
          <p:nvPr userDrawn="1"/>
        </p:nvSpPr>
        <p:spPr>
          <a:xfrm flipH="1">
            <a:off x="6160647" y="1232819"/>
            <a:ext cx="5729591" cy="5181009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643" y="247444"/>
            <a:ext cx="5933087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C6A9506-9D85-5633-1A26-5CB13CBAA42D}"/>
              </a:ext>
            </a:extLst>
          </p:cNvPr>
          <p:cNvPicPr/>
          <p:nvPr userDrawn="1"/>
        </p:nvPicPr>
        <p:blipFill>
          <a:blip r:embed="rId3" cstate="print">
            <a:biLevel thresh="25000"/>
          </a:blip>
          <a:stretch>
            <a:fillRect/>
          </a:stretch>
        </p:blipFill>
        <p:spPr>
          <a:xfrm rot="5400000">
            <a:off x="1349792" y="-687504"/>
            <a:ext cx="480059" cy="242315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C1CB567-1D8D-93F3-35D7-23F23FBD018C}"/>
              </a:ext>
            </a:extLst>
          </p:cNvPr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72" y="261609"/>
            <a:ext cx="2322786" cy="58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Прямоугольник: один усеченный угол 15">
            <a:extLst>
              <a:ext uri="{FF2B5EF4-FFF2-40B4-BE49-F238E27FC236}">
                <a16:creationId xmlns:a16="http://schemas.microsoft.com/office/drawing/2014/main" id="{66DE0BFD-724C-EE33-7322-F6327273A505}"/>
              </a:ext>
            </a:extLst>
          </p:cNvPr>
          <p:cNvSpPr/>
          <p:nvPr userDrawn="1"/>
        </p:nvSpPr>
        <p:spPr>
          <a:xfrm rot="10800000" flipH="1">
            <a:off x="301752" y="1232819"/>
            <a:ext cx="5729592" cy="2525733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 anchorCtr="1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C557544E-0F6B-A7AC-F745-249BA08981B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63147" y="1801065"/>
            <a:ext cx="5550611" cy="4530909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: один усеченный угол 23">
            <a:extLst>
              <a:ext uri="{FF2B5EF4-FFF2-40B4-BE49-F238E27FC236}">
                <a16:creationId xmlns:a16="http://schemas.microsoft.com/office/drawing/2014/main" id="{4D5A1D09-7A49-96F9-F025-289704623516}"/>
              </a:ext>
            </a:extLst>
          </p:cNvPr>
          <p:cNvSpPr/>
          <p:nvPr userDrawn="1"/>
        </p:nvSpPr>
        <p:spPr>
          <a:xfrm>
            <a:off x="292777" y="3886251"/>
            <a:ext cx="5729592" cy="2527578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A56370DE-EE5B-5BC5-4BA7-CC8D0D863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8242" y="1801065"/>
            <a:ext cx="5550611" cy="1837741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Объект 2">
            <a:extLst>
              <a:ext uri="{FF2B5EF4-FFF2-40B4-BE49-F238E27FC236}">
                <a16:creationId xmlns:a16="http://schemas.microsoft.com/office/drawing/2014/main" id="{5F4316CF-C3C1-39BF-B3CA-342A223B7F4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54147" y="4465638"/>
            <a:ext cx="5550611" cy="1853239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7" name="Объект 2">
            <a:extLst>
              <a:ext uri="{FF2B5EF4-FFF2-40B4-BE49-F238E27FC236}">
                <a16:creationId xmlns:a16="http://schemas.microsoft.com/office/drawing/2014/main" id="{0F2166A0-04BC-F644-14DC-B76DF7494B8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78241" y="1306176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CEAA0681-6CEC-FF54-AB00-0AA5C98ECBD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54146" y="3975201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9" name="Объект 2">
            <a:extLst>
              <a:ext uri="{FF2B5EF4-FFF2-40B4-BE49-F238E27FC236}">
                <a16:creationId xmlns:a16="http://schemas.microsoft.com/office/drawing/2014/main" id="{58AEA51A-6C99-E4DC-6496-BCD2DEAEFFD2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250136" y="1301688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654009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1F14A1-44B8-92D9-D0FC-0EAEA47DB8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0000"/>
          <a:stretch>
            <a:fillRect/>
          </a:stretch>
        </p:blipFill>
        <p:spPr>
          <a:xfrm>
            <a:off x="5687755" y="3424058"/>
            <a:ext cx="399266" cy="798530"/>
          </a:xfrm>
          <a:prstGeom prst="rect">
            <a:avLst/>
          </a:prstGeom>
        </p:spPr>
      </p:pic>
      <p:sp>
        <p:nvSpPr>
          <p:cNvPr id="6" name="Прямоугольник: один усеченный угол 5">
            <a:extLst>
              <a:ext uri="{FF2B5EF4-FFF2-40B4-BE49-F238E27FC236}">
                <a16:creationId xmlns:a16="http://schemas.microsoft.com/office/drawing/2014/main" id="{E052E9CC-9059-F1B0-1644-31F9C6CFDC57}"/>
              </a:ext>
            </a:extLst>
          </p:cNvPr>
          <p:cNvSpPr/>
          <p:nvPr userDrawn="1"/>
        </p:nvSpPr>
        <p:spPr>
          <a:xfrm flipH="1">
            <a:off x="6160647" y="1232819"/>
            <a:ext cx="5729591" cy="5181009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BD9704-4A37-DC50-7609-BF66C7E719B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05124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C59DC-3198-E305-D591-E545F830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3" y="247444"/>
            <a:ext cx="10721754" cy="610235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RF Dewi Expanded" panose="00000505000000000000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429301F-2D3C-63EE-D558-7511221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Прямоугольник: один усеченный угол 15">
            <a:extLst>
              <a:ext uri="{FF2B5EF4-FFF2-40B4-BE49-F238E27FC236}">
                <a16:creationId xmlns:a16="http://schemas.microsoft.com/office/drawing/2014/main" id="{66DE0BFD-724C-EE33-7322-F6327273A505}"/>
              </a:ext>
            </a:extLst>
          </p:cNvPr>
          <p:cNvSpPr/>
          <p:nvPr userDrawn="1"/>
        </p:nvSpPr>
        <p:spPr>
          <a:xfrm rot="10800000" flipH="1">
            <a:off x="301752" y="1232819"/>
            <a:ext cx="5729592" cy="2525733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 anchorCtr="1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C557544E-0F6B-A7AC-F745-249BA08981B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63147" y="1801065"/>
            <a:ext cx="5550611" cy="4530909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: один усеченный угол 23">
            <a:extLst>
              <a:ext uri="{FF2B5EF4-FFF2-40B4-BE49-F238E27FC236}">
                <a16:creationId xmlns:a16="http://schemas.microsoft.com/office/drawing/2014/main" id="{4D5A1D09-7A49-96F9-F025-289704623516}"/>
              </a:ext>
            </a:extLst>
          </p:cNvPr>
          <p:cNvSpPr/>
          <p:nvPr userDrawn="1"/>
        </p:nvSpPr>
        <p:spPr>
          <a:xfrm>
            <a:off x="292777" y="3886251"/>
            <a:ext cx="5729592" cy="2527578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0" dirty="0">
              <a:solidFill>
                <a:srgbClr val="0B5185"/>
              </a:solidFill>
            </a:endParaRP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A56370DE-EE5B-5BC5-4BA7-CC8D0D863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8242" y="1801065"/>
            <a:ext cx="5550611" cy="1837741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Объект 2">
            <a:extLst>
              <a:ext uri="{FF2B5EF4-FFF2-40B4-BE49-F238E27FC236}">
                <a16:creationId xmlns:a16="http://schemas.microsoft.com/office/drawing/2014/main" id="{5F4316CF-C3C1-39BF-B3CA-342A223B7F4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54147" y="4465638"/>
            <a:ext cx="5550611" cy="1853239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7" name="Объект 2">
            <a:extLst>
              <a:ext uri="{FF2B5EF4-FFF2-40B4-BE49-F238E27FC236}">
                <a16:creationId xmlns:a16="http://schemas.microsoft.com/office/drawing/2014/main" id="{0F2166A0-04BC-F644-14DC-B76DF7494B8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78241" y="1306176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CEAA0681-6CEC-FF54-AB00-0AA5C98ECBD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54146" y="3975201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9" name="Объект 2">
            <a:extLst>
              <a:ext uri="{FF2B5EF4-FFF2-40B4-BE49-F238E27FC236}">
                <a16:creationId xmlns:a16="http://schemas.microsoft.com/office/drawing/2014/main" id="{58AEA51A-6C99-E4DC-6496-BCD2DEAEFFD2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250136" y="1301688"/>
            <a:ext cx="5550611" cy="435529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1800" b="1">
                <a:solidFill>
                  <a:srgbClr val="0B5185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8BD804D-794A-3759-85F2-2CCE5B3C6BDA}"/>
              </a:ext>
            </a:extLst>
          </p:cNvPr>
          <p:cNvPicPr/>
          <p:nvPr userDrawn="1"/>
        </p:nvPicPr>
        <p:blipFill>
          <a:blip r:embed="rId3" cstate="print">
            <a:alphaModFix/>
            <a:biLevel thresh="25000"/>
          </a:blip>
          <a:srcRect l="-1733" t="83724" r="-19869" b="1"/>
          <a:stretch>
            <a:fillRect/>
          </a:stretch>
        </p:blipFill>
        <p:spPr>
          <a:xfrm rot="5400000">
            <a:off x="143466" y="290669"/>
            <a:ext cx="872985" cy="58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91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32C77C-6A18-CADF-B74E-4DC86C0E3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355703"/>
            <a:ext cx="10631905" cy="82491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B5185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BAC479-F2A5-54BB-4A92-B3A74133A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1395663"/>
            <a:ext cx="5181600" cy="49657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2E07E09-5676-27A8-25B5-AE3BB0A2A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1395663"/>
            <a:ext cx="5297904" cy="49657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23D6E9-D767-0872-775C-8FBF1B20C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1704" y="6361367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ED9F7EB-44BD-0D71-3618-1A4989FA706D}"/>
              </a:ext>
            </a:extLst>
          </p:cNvPr>
          <p:cNvSpPr/>
          <p:nvPr userDrawn="1"/>
        </p:nvSpPr>
        <p:spPr>
          <a:xfrm>
            <a:off x="0" y="0"/>
            <a:ext cx="766560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1B5D3870-C48D-3581-17A9-B34341422B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3222"/>
          <a:stretch>
            <a:fillRect/>
          </a:stretch>
        </p:blipFill>
        <p:spPr bwMode="auto">
          <a:xfrm>
            <a:off x="92774" y="355704"/>
            <a:ext cx="621990" cy="583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C1CDB5A1-BD78-98D5-D14E-748973E9ED49}"/>
              </a:ext>
            </a:extLst>
          </p:cNvPr>
          <p:cNvPicPr/>
          <p:nvPr userDrawn="1"/>
        </p:nvPicPr>
        <p:blipFill>
          <a:blip r:embed="rId4" cstate="print">
            <a:alphaModFix/>
            <a:biLevel thresh="25000"/>
          </a:blip>
          <a:srcRect l="-1733" t="83724" r="-19869" b="1"/>
          <a:stretch>
            <a:fillRect/>
          </a:stretch>
        </p:blipFill>
        <p:spPr>
          <a:xfrm rot="5400000">
            <a:off x="-32724" y="1278495"/>
            <a:ext cx="872985" cy="58978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D0B6214-15D8-7AF0-AD39-D67393A73E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-204603" y="5553330"/>
            <a:ext cx="14478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99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32C77C-6A18-CADF-B74E-4DC86C0E3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355703"/>
            <a:ext cx="10631905" cy="82491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B5185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BAC479-F2A5-54BB-4A92-B3A74133A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1395663"/>
            <a:ext cx="4572001" cy="290362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2E07E09-5676-27A8-25B5-AE3BB0A2A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1441" y="1395663"/>
            <a:ext cx="5683463" cy="477187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23D6E9-D767-0872-775C-8FBF1B20C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1704" y="6361367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ED9F7EB-44BD-0D71-3618-1A4989FA706D}"/>
              </a:ext>
            </a:extLst>
          </p:cNvPr>
          <p:cNvSpPr/>
          <p:nvPr userDrawn="1"/>
        </p:nvSpPr>
        <p:spPr>
          <a:xfrm>
            <a:off x="0" y="0"/>
            <a:ext cx="766560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1B5D3870-C48D-3581-17A9-B34341422B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3222"/>
          <a:stretch>
            <a:fillRect/>
          </a:stretch>
        </p:blipFill>
        <p:spPr bwMode="auto">
          <a:xfrm>
            <a:off x="92774" y="355704"/>
            <a:ext cx="621990" cy="583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C1CDB5A1-BD78-98D5-D14E-748973E9ED49}"/>
              </a:ext>
            </a:extLst>
          </p:cNvPr>
          <p:cNvPicPr/>
          <p:nvPr userDrawn="1"/>
        </p:nvPicPr>
        <p:blipFill>
          <a:blip r:embed="rId4" cstate="print">
            <a:alphaModFix/>
            <a:biLevel thresh="25000"/>
          </a:blip>
          <a:srcRect l="-1733" t="83724" r="-19869" b="1"/>
          <a:stretch>
            <a:fillRect/>
          </a:stretch>
        </p:blipFill>
        <p:spPr>
          <a:xfrm rot="5400000">
            <a:off x="-32724" y="1278495"/>
            <a:ext cx="872985" cy="58978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D0B6214-15D8-7AF0-AD39-D67393A73E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-204603" y="5553330"/>
            <a:ext cx="1447800" cy="533400"/>
          </a:xfrm>
          <a:prstGeom prst="rect">
            <a:avLst/>
          </a:prstGeom>
        </p:spPr>
      </p:pic>
      <p:sp>
        <p:nvSpPr>
          <p:cNvPr id="14" name="Прямоугольник: один усеченный угол 13">
            <a:extLst>
              <a:ext uri="{FF2B5EF4-FFF2-40B4-BE49-F238E27FC236}">
                <a16:creationId xmlns:a16="http://schemas.microsoft.com/office/drawing/2014/main" id="{542ADC93-17F1-7250-0CDB-C85881A21E8E}"/>
              </a:ext>
            </a:extLst>
          </p:cNvPr>
          <p:cNvSpPr/>
          <p:nvPr userDrawn="1"/>
        </p:nvSpPr>
        <p:spPr>
          <a:xfrm>
            <a:off x="378242" y="4667880"/>
            <a:ext cx="5336759" cy="1686598"/>
          </a:xfrm>
          <a:prstGeom prst="snip1Rect">
            <a:avLst/>
          </a:prstGeom>
          <a:solidFill>
            <a:schemeClr val="bg1"/>
          </a:solidFill>
          <a:ln w="38100"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2000" lvl="0"/>
            <a:r>
              <a:rPr lang="ru-RU" dirty="0">
                <a:solidFill>
                  <a:srgbClr val="0B5185"/>
                </a:solidFill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19472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D1CA6F3-BD11-069E-4E3B-A44CCBC5683D}"/>
              </a:ext>
            </a:extLst>
          </p:cNvPr>
          <p:cNvSpPr>
            <a:spLocks/>
          </p:cNvSpPr>
          <p:nvPr userDrawn="1"/>
        </p:nvSpPr>
        <p:spPr>
          <a:xfrm>
            <a:off x="8858605" y="0"/>
            <a:ext cx="3333394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2D0A56-6459-B722-A8DA-687101363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81" y="365125"/>
            <a:ext cx="8238619" cy="64770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B5185"/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6580E2-5B30-9A12-0B0B-9B15129E8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393" y="1425064"/>
            <a:ext cx="8238619" cy="4119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0B518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C05C3E-C1A5-0F37-7C93-1F33E97BD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393" y="2046227"/>
            <a:ext cx="8238619" cy="41434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A96375-C405-297D-EA94-8F2A940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25655" y="1509701"/>
            <a:ext cx="2595952" cy="58341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A306FD2-FE9B-700C-E833-B3496D0A8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25654" y="2323370"/>
            <a:ext cx="2595952" cy="386629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EFA2E8-2E30-CC94-D2B6-3E64328A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03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588D18-05BC-4B0A-958B-473CFB08429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BF97DC4-A80C-1436-8D41-7028A51017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3222"/>
          <a:stretch>
            <a:fillRect/>
          </a:stretch>
        </p:blipFill>
        <p:spPr bwMode="auto">
          <a:xfrm>
            <a:off x="11199616" y="251695"/>
            <a:ext cx="621990" cy="583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EDF6B9F9-56AF-85F2-F6C2-0A51296CECCA}"/>
              </a:ext>
            </a:extLst>
          </p:cNvPr>
          <p:cNvPicPr/>
          <p:nvPr userDrawn="1"/>
        </p:nvPicPr>
        <p:blipFill>
          <a:blip r:embed="rId4" cstate="print">
            <a:biLevel thresh="25000"/>
          </a:blip>
          <a:srcRect t="55308" r="-21530"/>
          <a:stretch>
            <a:fillRect/>
          </a:stretch>
        </p:blipFill>
        <p:spPr>
          <a:xfrm rot="5400000">
            <a:off x="9475424" y="1927"/>
            <a:ext cx="583417" cy="108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2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D1CA6F3-BD11-069E-4E3B-A44CCBC5683D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333394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6580E2-5B30-9A12-0B0B-9B15129E8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99575" y="387636"/>
            <a:ext cx="7041254" cy="4380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0B518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C05C3E-C1A5-0F37-7C93-1F33E97BD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9575" y="1012826"/>
            <a:ext cx="8394067" cy="51768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A96375-C405-297D-EA94-8F2A940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93" y="387636"/>
            <a:ext cx="2595952" cy="4380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A306FD2-FE9B-700C-E833-B3496D0A8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93" y="1012826"/>
            <a:ext cx="2595952" cy="5176837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EFA2E8-2E30-CC94-D2B6-3E64328A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030" y="6356350"/>
            <a:ext cx="2743200" cy="365125"/>
          </a:xfrm>
        </p:spPr>
        <p:txBody>
          <a:bodyPr/>
          <a:lstStyle>
            <a:lvl1pPr>
              <a:defRPr>
                <a:solidFill>
                  <a:srgbClr val="0B5185"/>
                </a:solidFill>
              </a:defRPr>
            </a:lvl1pPr>
          </a:lstStyle>
          <a:p>
            <a:fld id="{C9588D18-05BC-4B0A-958B-473CFB08429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object 4">
            <a:extLst>
              <a:ext uri="{FF2B5EF4-FFF2-40B4-BE49-F238E27FC236}">
                <a16:creationId xmlns:a16="http://schemas.microsoft.com/office/drawing/2014/main" id="{859D6EBA-CD8B-7E82-9A3A-425A42D8EE73}"/>
              </a:ext>
            </a:extLst>
          </p:cNvPr>
          <p:cNvPicPr/>
          <p:nvPr userDrawn="1"/>
        </p:nvPicPr>
        <p:blipFill>
          <a:blip r:embed="rId2" cstate="print">
            <a:biLevel thresh="75000"/>
          </a:blip>
          <a:srcRect t="55308" r="-21530"/>
          <a:stretch>
            <a:fillRect/>
          </a:stretch>
        </p:blipFill>
        <p:spPr>
          <a:xfrm rot="5400000">
            <a:off x="11060457" y="-7464"/>
            <a:ext cx="583417" cy="108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04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D1CA6F3-BD11-069E-4E3B-A44CCBC5683D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6012068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6580E2-5B30-9A12-0B0B-9B15129E8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1928" y="387636"/>
            <a:ext cx="4258900" cy="4380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0B518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C05C3E-C1A5-0F37-7C93-1F33E97BD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928" y="1012826"/>
            <a:ext cx="5611714" cy="5176837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A96375-C405-297D-EA94-8F2A940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92" y="387636"/>
            <a:ext cx="5216591" cy="4380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A306FD2-FE9B-700C-E833-B3496D0A8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92" y="1012826"/>
            <a:ext cx="5216591" cy="5176837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EFA2E8-2E30-CC94-D2B6-3E64328A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030" y="6356350"/>
            <a:ext cx="2743200" cy="365125"/>
          </a:xfrm>
        </p:spPr>
        <p:txBody>
          <a:bodyPr/>
          <a:lstStyle>
            <a:lvl1pPr>
              <a:defRPr>
                <a:solidFill>
                  <a:srgbClr val="0B5185"/>
                </a:solidFill>
              </a:defRPr>
            </a:lvl1pPr>
          </a:lstStyle>
          <a:p>
            <a:fld id="{C9588D18-05BC-4B0A-958B-473CFB08429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object 4">
            <a:extLst>
              <a:ext uri="{FF2B5EF4-FFF2-40B4-BE49-F238E27FC236}">
                <a16:creationId xmlns:a16="http://schemas.microsoft.com/office/drawing/2014/main" id="{859D6EBA-CD8B-7E82-9A3A-425A42D8EE73}"/>
              </a:ext>
            </a:extLst>
          </p:cNvPr>
          <p:cNvPicPr/>
          <p:nvPr userDrawn="1"/>
        </p:nvPicPr>
        <p:blipFill>
          <a:blip r:embed="rId2" cstate="print">
            <a:biLevel thresh="75000"/>
          </a:blip>
          <a:srcRect t="55308" r="-21530"/>
          <a:stretch>
            <a:fillRect/>
          </a:stretch>
        </p:blipFill>
        <p:spPr>
          <a:xfrm rot="5400000">
            <a:off x="11060457" y="-7464"/>
            <a:ext cx="583417" cy="108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041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D1CA6F3-BD11-069E-4E3B-A44CCBC5683D}"/>
              </a:ext>
            </a:extLst>
          </p:cNvPr>
          <p:cNvSpPr>
            <a:spLocks/>
          </p:cNvSpPr>
          <p:nvPr userDrawn="1"/>
        </p:nvSpPr>
        <p:spPr>
          <a:xfrm>
            <a:off x="5416062" y="0"/>
            <a:ext cx="6775937" cy="6858000"/>
          </a:xfrm>
          <a:prstGeom prst="rect">
            <a:avLst/>
          </a:prstGeom>
          <a:solidFill>
            <a:srgbClr val="0B51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bg1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2D0A56-6459-B722-A8DA-687101363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55" y="419668"/>
            <a:ext cx="4439226" cy="822987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B5185"/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6580E2-5B30-9A12-0B0B-9B15129E8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803" y="1417091"/>
            <a:ext cx="4439226" cy="4119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0B518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C05C3E-C1A5-0F37-7C93-1F33E97BD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803" y="2003483"/>
            <a:ext cx="4439226" cy="41434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A96375-C405-297D-EA94-8F2A940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16296" y="419668"/>
            <a:ext cx="3808792" cy="8320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A306FD2-FE9B-700C-E833-B3496D0A8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16296" y="1398356"/>
            <a:ext cx="6003721" cy="4791307"/>
          </a:xfrm>
          <a:prstGeom prst="rect">
            <a:avLst/>
          </a:prstGeom>
        </p:spPr>
        <p:txBody>
          <a:bodyPr/>
          <a:lstStyle>
            <a:lvl1pPr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EFA2E8-2E30-CC94-D2B6-3E64328A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03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588D18-05BC-4B0A-958B-473CFB08429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BF97DC4-A80C-1436-8D41-7028A51017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3222"/>
          <a:stretch>
            <a:fillRect/>
          </a:stretch>
        </p:blipFill>
        <p:spPr bwMode="auto">
          <a:xfrm>
            <a:off x="11263789" y="407469"/>
            <a:ext cx="556229" cy="521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EDF6B9F9-56AF-85F2-F6C2-0A51296CECCA}"/>
              </a:ext>
            </a:extLst>
          </p:cNvPr>
          <p:cNvPicPr/>
          <p:nvPr userDrawn="1"/>
        </p:nvPicPr>
        <p:blipFill>
          <a:blip r:embed="rId4" cstate="print">
            <a:biLevel thresh="25000"/>
          </a:blip>
          <a:srcRect t="55308" r="-21530"/>
          <a:stretch>
            <a:fillRect/>
          </a:stretch>
        </p:blipFill>
        <p:spPr>
          <a:xfrm rot="5400000">
            <a:off x="10246838" y="157701"/>
            <a:ext cx="583417" cy="1082954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AAF6517-E633-4354-6FE9-771A21D8854E}"/>
              </a:ext>
            </a:extLst>
          </p:cNvPr>
          <p:cNvCxnSpPr>
            <a:cxnSpLocks/>
          </p:cNvCxnSpPr>
          <p:nvPr userDrawn="1"/>
        </p:nvCxnSpPr>
        <p:spPr>
          <a:xfrm flipH="1">
            <a:off x="282152" y="1199269"/>
            <a:ext cx="14618" cy="5292436"/>
          </a:xfrm>
          <a:prstGeom prst="line">
            <a:avLst/>
          </a:prstGeom>
          <a:ln w="38100">
            <a:solidFill>
              <a:srgbClr val="0B51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Овал 7">
            <a:extLst>
              <a:ext uri="{FF2B5EF4-FFF2-40B4-BE49-F238E27FC236}">
                <a16:creationId xmlns:a16="http://schemas.microsoft.com/office/drawing/2014/main" id="{33C51923-7ED7-03D2-83BB-ABE5F839DEF1}"/>
              </a:ext>
            </a:extLst>
          </p:cNvPr>
          <p:cNvSpPr/>
          <p:nvPr userDrawn="1"/>
        </p:nvSpPr>
        <p:spPr>
          <a:xfrm>
            <a:off x="167945" y="1970492"/>
            <a:ext cx="266700" cy="266700"/>
          </a:xfrm>
          <a:prstGeom prst="ellipse">
            <a:avLst/>
          </a:prstGeom>
          <a:solidFill>
            <a:srgbClr val="0B5185"/>
          </a:solidFill>
          <a:ln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D59D8F8-04C5-F3CF-AD8F-6AAE9238E9A2}"/>
              </a:ext>
            </a:extLst>
          </p:cNvPr>
          <p:cNvSpPr/>
          <p:nvPr userDrawn="1"/>
        </p:nvSpPr>
        <p:spPr>
          <a:xfrm>
            <a:off x="167945" y="3041321"/>
            <a:ext cx="266700" cy="266700"/>
          </a:xfrm>
          <a:prstGeom prst="ellipse">
            <a:avLst/>
          </a:prstGeom>
          <a:solidFill>
            <a:srgbClr val="0B5185"/>
          </a:solidFill>
          <a:ln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0668659-F357-F2B9-583A-0F5958F08A57}"/>
              </a:ext>
            </a:extLst>
          </p:cNvPr>
          <p:cNvSpPr/>
          <p:nvPr userDrawn="1"/>
        </p:nvSpPr>
        <p:spPr>
          <a:xfrm>
            <a:off x="163420" y="5182979"/>
            <a:ext cx="266700" cy="266700"/>
          </a:xfrm>
          <a:prstGeom prst="ellipse">
            <a:avLst/>
          </a:prstGeom>
          <a:solidFill>
            <a:srgbClr val="0B5185"/>
          </a:solidFill>
          <a:ln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CCEB39BF-9687-9201-60AC-775416935EB1}"/>
              </a:ext>
            </a:extLst>
          </p:cNvPr>
          <p:cNvSpPr/>
          <p:nvPr userDrawn="1"/>
        </p:nvSpPr>
        <p:spPr>
          <a:xfrm>
            <a:off x="160488" y="4112150"/>
            <a:ext cx="266700" cy="266700"/>
          </a:xfrm>
          <a:prstGeom prst="ellipse">
            <a:avLst/>
          </a:prstGeom>
          <a:solidFill>
            <a:srgbClr val="0B5185"/>
          </a:solidFill>
          <a:ln>
            <a:solidFill>
              <a:srgbClr val="0B51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8617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29835-9FC5-2877-FD25-898C41D95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925E68-9663-404C-B71C-A41A45DD9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CF6AA7-86E0-F640-79B5-EC4E36BD3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rgbClr val="0B5185"/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fld id="{C9588D18-05BC-4B0A-958B-473CFB08429C}" type="slidenum">
              <a:rPr lang="ru-RU" smtClean="0"/>
              <a:pPr/>
              <a:t>‹#›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52140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2" r:id="rId5"/>
    <p:sldLayoutId id="2147483668" r:id="rId6"/>
    <p:sldLayoutId id="2147483660" r:id="rId7"/>
    <p:sldLayoutId id="2147483672" r:id="rId8"/>
    <p:sldLayoutId id="2147483669" r:id="rId9"/>
    <p:sldLayoutId id="2147483659" r:id="rId10"/>
    <p:sldLayoutId id="2147483661" r:id="rId11"/>
    <p:sldLayoutId id="2147483666" r:id="rId12"/>
    <p:sldLayoutId id="2147483652" r:id="rId13"/>
    <p:sldLayoutId id="2147483658" r:id="rId14"/>
    <p:sldLayoutId id="2147483653" r:id="rId15"/>
    <p:sldLayoutId id="2147483665" r:id="rId16"/>
    <p:sldLayoutId id="2147483670" r:id="rId17"/>
    <p:sldLayoutId id="2147483664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RF Dewi Expanded" panose="00000505000000000000"/>
          <a:ea typeface="DengXian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F Dewi Expanded" panose="0000050500000000000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F Dewi Expanded" panose="00000505000000000000"/>
          <a:ea typeface="DengXian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F Dewi Expanded" panose="0000050500000000000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F Dewi Expanded" panose="0000050500000000000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F Dewi Expanded" panose="0000050500000000000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C18AD8-F6B6-1184-C786-0AB502E0B9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Интеллектуальная система прогнозирования заполняемости средств размещения на основе данных туристических агрегаторов и событийной активности в регионе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025DB4-4FEC-6D11-22D7-6F46E051B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405" y="5243209"/>
            <a:ext cx="9144000" cy="71185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b="1" dirty="0"/>
              <a:t>Студент</a:t>
            </a:r>
            <a:r>
              <a:rPr lang="ru-RU" dirty="0"/>
              <a:t>: Исполатов Вадим Петрович 14422-ДБ</a:t>
            </a:r>
          </a:p>
          <a:p>
            <a:pPr>
              <a:spcBef>
                <a:spcPts val="0"/>
              </a:spcBef>
            </a:pPr>
            <a:r>
              <a:rPr lang="ru-RU" b="1" dirty="0"/>
              <a:t>Консультант</a:t>
            </a:r>
            <a:r>
              <a:rPr lang="ru-RU" dirty="0"/>
              <a:t>: м</a:t>
            </a:r>
            <a:r>
              <a:rPr lang="en-US" dirty="0"/>
              <a:t>.</a:t>
            </a:r>
            <a:r>
              <a:rPr lang="ru-RU" dirty="0"/>
              <a:t>н</a:t>
            </a:r>
            <a:r>
              <a:rPr lang="en-US" dirty="0"/>
              <a:t>.c.,</a:t>
            </a:r>
            <a:r>
              <a:rPr lang="ru-RU" dirty="0"/>
              <a:t> Пестова Ю</a:t>
            </a:r>
            <a:r>
              <a:rPr lang="en-US" dirty="0"/>
              <a:t>.</a:t>
            </a:r>
            <a:r>
              <a:rPr lang="ru-RU" dirty="0"/>
              <a:t>В</a:t>
            </a:r>
            <a:r>
              <a:rPr lang="en-US" dirty="0"/>
              <a:t>.</a:t>
            </a:r>
            <a:endParaRPr lang="ru-RU" dirty="0"/>
          </a:p>
          <a:p>
            <a:pPr>
              <a:spcBef>
                <a:spcPts val="0"/>
              </a:spcBef>
            </a:pPr>
            <a:r>
              <a:rPr lang="ru-RU" b="1" dirty="0"/>
              <a:t>Научный руководитель</a:t>
            </a:r>
            <a:r>
              <a:rPr lang="ru-RU" dirty="0"/>
              <a:t>: </a:t>
            </a:r>
            <a:r>
              <a:rPr lang="ru-RU" dirty="0" err="1"/>
              <a:t>проф</a:t>
            </a:r>
            <a:r>
              <a:rPr lang="en-US" dirty="0"/>
              <a:t>.</a:t>
            </a:r>
            <a:r>
              <a:rPr lang="ru-RU" dirty="0"/>
              <a:t>, д.т.н., Николайчук О.А.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09F0CF-49BE-9C54-5513-683A62172041}"/>
              </a:ext>
            </a:extLst>
          </p:cNvPr>
          <p:cNvSpPr txBox="1"/>
          <p:nvPr/>
        </p:nvSpPr>
        <p:spPr>
          <a:xfrm>
            <a:off x="524873" y="6257407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RF Dewi Expanded" panose="00000505000000000000"/>
              </a:rPr>
              <a:t>Иркутск 2026</a:t>
            </a:r>
          </a:p>
        </p:txBody>
      </p:sp>
    </p:spTree>
    <p:extLst>
      <p:ext uri="{BB962C8B-B14F-4D97-AF65-F5344CB8AC3E}">
        <p14:creationId xmlns:p14="http://schemas.microsoft.com/office/powerpoint/2010/main" val="1154718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6C9FC-D21F-A5F0-95B3-4CA5AC5A3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9341C-4608-FD55-0A67-F157EDAC3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Цель и задачи работы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7D7B18-6E41-1F30-6D09-46F8317DA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3987" y="1799771"/>
            <a:ext cx="6222109" cy="4889714"/>
          </a:xfrm>
        </p:spPr>
        <p:txBody>
          <a:bodyPr>
            <a:noAutofit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ru-RU" sz="2000" dirty="0"/>
              <a:t>Исследовать предметную область и существующие решения (RMS)</a:t>
            </a:r>
            <a:endParaRPr lang="en-US" sz="2000" dirty="0"/>
          </a:p>
          <a:p>
            <a:pPr marL="514350" indent="-514350" fontAlgn="base">
              <a:buFont typeface="+mj-lt"/>
              <a:buAutoNum type="arabicPeriod"/>
            </a:pPr>
            <a:r>
              <a:rPr lang="ru-RU" sz="2000" dirty="0"/>
              <a:t>Обосновать выбор технологий и средств визуализации</a:t>
            </a:r>
            <a:endParaRPr lang="en-US" sz="2000" dirty="0"/>
          </a:p>
          <a:p>
            <a:pPr marL="514350" indent="-514350" fontAlgn="base">
              <a:buFont typeface="+mj-lt"/>
              <a:buAutoNum type="arabicPeriod"/>
            </a:pPr>
            <a:r>
              <a:rPr lang="ru-RU" sz="2000" dirty="0"/>
              <a:t>Создать подсистему автоматического сбора данных</a:t>
            </a:r>
            <a:endParaRPr lang="en-US" sz="2000" dirty="0"/>
          </a:p>
          <a:p>
            <a:pPr marL="514350" indent="-514350" fontAlgn="base">
              <a:buFont typeface="+mj-lt"/>
              <a:buAutoNum type="arabicPeriod"/>
            </a:pPr>
            <a:r>
              <a:rPr lang="ru-RU" sz="2000" dirty="0"/>
              <a:t>Разработать ансамблевый метод прогноза с метриками доходности</a:t>
            </a:r>
            <a:endParaRPr lang="en-US" sz="2000" dirty="0"/>
          </a:p>
          <a:p>
            <a:pPr marL="514350" indent="-514350" fontAlgn="base">
              <a:buFont typeface="+mj-lt"/>
              <a:buAutoNum type="arabicPeriod"/>
            </a:pPr>
            <a:r>
              <a:rPr lang="ru-RU" sz="2000" dirty="0"/>
              <a:t>Спроектировать архитектуру, интеллектуального агента и веб-интерфейс для 3 сегментов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EF9587-0387-0E56-BFEA-05F9064B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8D18-05BC-4B0A-958B-473CFB08429C}" type="slidenum">
              <a:rPr lang="ru-RU" smtClean="0"/>
              <a:t>2</a:t>
            </a:fld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9A2C91A-0FF5-7BEC-63C5-79BED53AAA4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47816" y="1266195"/>
            <a:ext cx="2268538" cy="3984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0B5185"/>
                </a:solidFill>
              </a:rPr>
              <a:t>Цель</a:t>
            </a:r>
          </a:p>
          <a:p>
            <a:pPr marL="0" indent="0">
              <a:buNone/>
            </a:pPr>
            <a:endParaRPr lang="ru-RU" b="1" dirty="0">
              <a:solidFill>
                <a:srgbClr val="0B518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37F0C8-505D-6D2F-4378-2922F25E21F9}"/>
              </a:ext>
            </a:extLst>
          </p:cNvPr>
          <p:cNvSpPr txBox="1"/>
          <p:nvPr/>
        </p:nvSpPr>
        <p:spPr>
          <a:xfrm>
            <a:off x="247816" y="1799771"/>
            <a:ext cx="406182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ru-RU" sz="2000" dirty="0">
                <a:solidFill>
                  <a:srgbClr val="1A1A1A"/>
                </a:solidFill>
              </a:rPr>
              <a:t>Разработать интеллектуальную аналитическую систему прогнозирования заполняемости средств размещения с интерфейсом визуальной аналитики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8BCFD2B-FAD9-83F3-8449-E01088AB8673}"/>
              </a:ext>
            </a:extLst>
          </p:cNvPr>
          <p:cNvCxnSpPr/>
          <p:nvPr/>
        </p:nvCxnSpPr>
        <p:spPr>
          <a:xfrm>
            <a:off x="4857301" y="1097280"/>
            <a:ext cx="0" cy="576072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Объект 4">
            <a:extLst>
              <a:ext uri="{FF2B5EF4-FFF2-40B4-BE49-F238E27FC236}">
                <a16:creationId xmlns:a16="http://schemas.microsoft.com/office/drawing/2014/main" id="{D44319CC-C1BE-F248-8362-A35EEFAC0FE2}"/>
              </a:ext>
            </a:extLst>
          </p:cNvPr>
          <p:cNvSpPr txBox="1">
            <a:spLocks/>
          </p:cNvSpPr>
          <p:nvPr/>
        </p:nvSpPr>
        <p:spPr>
          <a:xfrm>
            <a:off x="5043987" y="1266195"/>
            <a:ext cx="2268538" cy="3984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F Dewi Expanded" panose="00000505000000000000"/>
                <a:ea typeface="DengXian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F Dewi Expanded" panose="0000050500000000000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b="1" dirty="0">
                <a:solidFill>
                  <a:srgbClr val="0B5185"/>
                </a:solidFill>
              </a:rPr>
              <a:t>Задачи</a:t>
            </a:r>
          </a:p>
        </p:txBody>
      </p:sp>
    </p:spTree>
    <p:extLst>
      <p:ext uri="{BB962C8B-B14F-4D97-AF65-F5344CB8AC3E}">
        <p14:creationId xmlns:p14="http://schemas.microsoft.com/office/powerpoint/2010/main" val="839371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устроено</a:t>
            </a:r>
            <a:r>
              <a:rPr dirty="0"/>
              <a:t> </a:t>
            </a:r>
            <a:r>
              <a:rPr dirty="0" err="1"/>
              <a:t>решение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104277" y="2651760"/>
            <a:ext cx="2103120" cy="228600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</a:rPr>
              <a:t>ИСТОЧНИКИ</a:t>
            </a:r>
          </a:p>
          <a:p>
            <a:pPr algn="ctr"/>
            <a:r>
              <a:rPr lang="ru-RU" sz="2000" b="0" dirty="0">
                <a:solidFill>
                  <a:srgbClr val="1A1A1A"/>
                </a:solidFill>
              </a:rPr>
              <a:t>с</a:t>
            </a:r>
            <a:r>
              <a:rPr sz="2000" b="0" dirty="0" err="1">
                <a:solidFill>
                  <a:srgbClr val="1A1A1A"/>
                </a:solidFill>
              </a:rPr>
              <a:t>обытия</a:t>
            </a:r>
            <a:r>
              <a:rPr lang="en-US" sz="2000" dirty="0">
                <a:solidFill>
                  <a:srgbClr val="1A1A1A"/>
                </a:solidFill>
              </a:rPr>
              <a:t>,</a:t>
            </a:r>
            <a:r>
              <a:rPr lang="ru-RU" sz="2000" dirty="0">
                <a:solidFill>
                  <a:srgbClr val="1A1A1A"/>
                </a:solidFill>
              </a:rPr>
              <a:t> </a:t>
            </a:r>
            <a:r>
              <a:rPr sz="2000" b="0" dirty="0" err="1">
                <a:solidFill>
                  <a:srgbClr val="1A1A1A"/>
                </a:solidFill>
              </a:rPr>
              <a:t>отели</a:t>
            </a:r>
            <a:r>
              <a:rPr lang="en-US" sz="2000" dirty="0">
                <a:solidFill>
                  <a:srgbClr val="1A1A1A"/>
                </a:solidFill>
              </a:rPr>
              <a:t>, </a:t>
            </a:r>
            <a:r>
              <a:rPr sz="2000" b="0" dirty="0" err="1">
                <a:solidFill>
                  <a:srgbClr val="1A1A1A"/>
                </a:solidFill>
              </a:rPr>
              <a:t>погода</a:t>
            </a:r>
            <a:endParaRPr sz="2000" b="0" dirty="0">
              <a:solidFill>
                <a:srgbClr val="1A1A1A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56224" y="3502372"/>
            <a:ext cx="431528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 dirty="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4178" y="2651760"/>
            <a:ext cx="2103120" cy="228600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</a:rPr>
              <a:t>СБОР 24/7</a:t>
            </a:r>
          </a:p>
          <a:p>
            <a:pPr algn="ctr"/>
            <a:r>
              <a:rPr b="0" dirty="0" err="1">
                <a:solidFill>
                  <a:srgbClr val="1A1A1A"/>
                </a:solidFill>
              </a:rPr>
              <a:t>автоматически</a:t>
            </a:r>
            <a:endParaRPr b="0" dirty="0">
              <a:solidFill>
                <a:srgbClr val="1A1A1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00633" y="3502372"/>
            <a:ext cx="431528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 dirty="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64079" y="2651760"/>
            <a:ext cx="2103120" cy="228600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</a:rPr>
              <a:t>ЯДРО</a:t>
            </a:r>
          </a:p>
          <a:p>
            <a:pPr algn="ctr"/>
            <a:r>
              <a:rPr lang="ru-RU" b="0" dirty="0">
                <a:solidFill>
                  <a:srgbClr val="1A1A1A"/>
                </a:solidFill>
              </a:rPr>
              <a:t>п</a:t>
            </a:r>
            <a:r>
              <a:rPr b="0" dirty="0" err="1">
                <a:solidFill>
                  <a:srgbClr val="1A1A1A"/>
                </a:solidFill>
              </a:rPr>
              <a:t>рогноз</a:t>
            </a:r>
            <a:r>
              <a:rPr lang="en-US" dirty="0">
                <a:solidFill>
                  <a:srgbClr val="1A1A1A"/>
                </a:solidFill>
              </a:rPr>
              <a:t>, </a:t>
            </a:r>
            <a:r>
              <a:rPr b="0" dirty="0" err="1">
                <a:solidFill>
                  <a:srgbClr val="1A1A1A"/>
                </a:solidFill>
              </a:rPr>
              <a:t>доходность</a:t>
            </a:r>
            <a:r>
              <a:rPr lang="en-US" dirty="0">
                <a:solidFill>
                  <a:srgbClr val="1A1A1A"/>
                </a:solidFill>
              </a:rPr>
              <a:t>, </a:t>
            </a:r>
            <a:r>
              <a:rPr b="0" dirty="0">
                <a:solidFill>
                  <a:srgbClr val="1A1A1A"/>
                </a:solidFill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5042" y="3502372"/>
            <a:ext cx="431528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 dirty="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7725" y="2651759"/>
            <a:ext cx="2193356" cy="228600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</a:rPr>
              <a:t>ИНТЕРФЕЙСЫ</a:t>
            </a:r>
          </a:p>
          <a:p>
            <a:pPr algn="ctr"/>
            <a:r>
              <a:rPr lang="ru-RU" b="0" dirty="0">
                <a:solidFill>
                  <a:srgbClr val="1A1A1A"/>
                </a:solidFill>
              </a:rPr>
              <a:t>Д</a:t>
            </a:r>
            <a:r>
              <a:rPr b="0" dirty="0" err="1">
                <a:solidFill>
                  <a:srgbClr val="1A1A1A"/>
                </a:solidFill>
              </a:rPr>
              <a:t>ашборды</a:t>
            </a:r>
            <a:r>
              <a:rPr lang="en-US" dirty="0">
                <a:solidFill>
                  <a:srgbClr val="1A1A1A"/>
                </a:solidFill>
              </a:rPr>
              <a:t>, </a:t>
            </a:r>
            <a:r>
              <a:rPr b="0" dirty="0">
                <a:solidFill>
                  <a:srgbClr val="1A1A1A"/>
                </a:solidFill>
              </a:rPr>
              <a:t>AI-</a:t>
            </a:r>
            <a:r>
              <a:rPr b="0" dirty="0" err="1">
                <a:solidFill>
                  <a:srgbClr val="1A1A1A"/>
                </a:solidFill>
              </a:rPr>
              <a:t>чат</a:t>
            </a:r>
            <a:endParaRPr b="0" dirty="0">
              <a:solidFill>
                <a:srgbClr val="1A1A1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2079" y="3502372"/>
            <a:ext cx="431528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 dirty="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84605" y="2651760"/>
            <a:ext cx="2167771" cy="228600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</a:rPr>
              <a:t>3 СЕГМЕНТА</a:t>
            </a:r>
          </a:p>
          <a:p>
            <a:pPr algn="ctr"/>
            <a:r>
              <a:rPr lang="ru-RU" b="0" dirty="0">
                <a:solidFill>
                  <a:srgbClr val="1A1A1A"/>
                </a:solidFill>
              </a:rPr>
              <a:t>о</a:t>
            </a:r>
            <a:r>
              <a:rPr b="0" dirty="0" err="1">
                <a:solidFill>
                  <a:srgbClr val="1A1A1A"/>
                </a:solidFill>
              </a:rPr>
              <a:t>тельер</a:t>
            </a:r>
            <a:r>
              <a:rPr lang="en-US" dirty="0">
                <a:solidFill>
                  <a:srgbClr val="1A1A1A"/>
                </a:solidFill>
              </a:rPr>
              <a:t>, </a:t>
            </a:r>
            <a:r>
              <a:rPr b="0" dirty="0" err="1">
                <a:solidFill>
                  <a:srgbClr val="1A1A1A"/>
                </a:solidFill>
              </a:rPr>
              <a:t>админ</a:t>
            </a:r>
            <a:r>
              <a:rPr lang="ru-RU" dirty="0" err="1">
                <a:solidFill>
                  <a:srgbClr val="1A1A1A"/>
                </a:solidFill>
              </a:rPr>
              <a:t>истратор</a:t>
            </a:r>
            <a:r>
              <a:rPr lang="en-US" dirty="0">
                <a:solidFill>
                  <a:srgbClr val="1A1A1A"/>
                </a:solidFill>
              </a:rPr>
              <a:t>,</a:t>
            </a:r>
            <a:r>
              <a:rPr b="0" dirty="0" err="1">
                <a:solidFill>
                  <a:srgbClr val="1A1A1A"/>
                </a:solidFill>
              </a:rPr>
              <a:t>исследователь</a:t>
            </a:r>
            <a:endParaRPr b="0" dirty="0">
              <a:solidFill>
                <a:srgbClr val="1A1A1A"/>
              </a:solidFill>
            </a:endParaRPr>
          </a:p>
        </p:txBody>
      </p:sp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99137F63-4B75-438B-EFDC-10FC5B578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 err="1"/>
              <a:t>Исследование</a:t>
            </a:r>
            <a:r>
              <a:rPr dirty="0"/>
              <a:t> </a:t>
            </a:r>
            <a:r>
              <a:rPr dirty="0" err="1"/>
              <a:t>области</a:t>
            </a:r>
            <a:r>
              <a:rPr dirty="0"/>
              <a:t> и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технологий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2400" b="0" dirty="0" err="1">
                <a:solidFill>
                  <a:srgbClr val="1A1A1A"/>
                </a:solidFill>
              </a:rPr>
              <a:t>Рынок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региона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не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покрывает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ни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одна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система</a:t>
            </a:r>
            <a:r>
              <a:rPr sz="2400" b="0" dirty="0">
                <a:solidFill>
                  <a:srgbClr val="1A1A1A"/>
                </a:solidFill>
              </a:rPr>
              <a:t> → </a:t>
            </a:r>
            <a:r>
              <a:rPr sz="2400" b="0" dirty="0" err="1">
                <a:solidFill>
                  <a:srgbClr val="1A1A1A"/>
                </a:solidFill>
              </a:rPr>
              <a:t>считаем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метрики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сами</a:t>
            </a:r>
            <a:endParaRPr sz="2400" b="0" dirty="0">
              <a:solidFill>
                <a:srgbClr val="1A1A1A"/>
              </a:solidFill>
            </a:endParaRPr>
          </a:p>
          <a:p>
            <a:pPr>
              <a:spcAft>
                <a:spcPts val="600"/>
              </a:spcAft>
            </a:pPr>
            <a:r>
              <a:rPr sz="2400" b="0" dirty="0">
                <a:solidFill>
                  <a:srgbClr val="1A1A1A"/>
                </a:solidFill>
              </a:rPr>
              <a:t>3 </a:t>
            </a:r>
            <a:r>
              <a:rPr sz="2400" b="0" dirty="0" err="1">
                <a:solidFill>
                  <a:srgbClr val="1A1A1A"/>
                </a:solidFill>
              </a:rPr>
              <a:t>сегмента</a:t>
            </a:r>
            <a:r>
              <a:rPr sz="2400" b="0" dirty="0">
                <a:solidFill>
                  <a:srgbClr val="1A1A1A"/>
                </a:solidFill>
              </a:rPr>
              <a:t> B2B: </a:t>
            </a:r>
            <a:r>
              <a:rPr sz="2400" b="0" dirty="0" err="1">
                <a:solidFill>
                  <a:srgbClr val="1A1A1A"/>
                </a:solidFill>
              </a:rPr>
              <a:t>отельеры</a:t>
            </a:r>
            <a:r>
              <a:rPr lang="en-US" sz="2400" b="0" dirty="0">
                <a:solidFill>
                  <a:srgbClr val="1A1A1A"/>
                </a:solidFill>
              </a:rPr>
              <a:t>, </a:t>
            </a:r>
            <a:r>
              <a:rPr sz="2400" b="0" dirty="0" err="1">
                <a:solidFill>
                  <a:srgbClr val="1A1A1A"/>
                </a:solidFill>
              </a:rPr>
              <a:t>администраци</a:t>
            </a:r>
            <a:r>
              <a:rPr lang="ru-RU" sz="2400" b="0" dirty="0">
                <a:solidFill>
                  <a:srgbClr val="1A1A1A"/>
                </a:solidFill>
              </a:rPr>
              <a:t>я</a:t>
            </a:r>
            <a:r>
              <a:rPr lang="en-US" sz="2400" b="0" dirty="0">
                <a:solidFill>
                  <a:srgbClr val="1A1A1A"/>
                </a:solidFill>
              </a:rPr>
              <a:t>, </a:t>
            </a:r>
            <a:r>
              <a:rPr sz="2400" b="0" dirty="0" err="1">
                <a:solidFill>
                  <a:srgbClr val="1A1A1A"/>
                </a:solidFill>
              </a:rPr>
              <a:t>исследователи</a:t>
            </a:r>
            <a:endParaRPr sz="2400" b="0" dirty="0">
              <a:solidFill>
                <a:srgbClr val="1A1A1A"/>
              </a:solidFill>
            </a:endParaRPr>
          </a:p>
          <a:p>
            <a:pPr>
              <a:spcAft>
                <a:spcPts val="600"/>
              </a:spcAft>
            </a:pPr>
            <a:r>
              <a:rPr sz="2400" b="0" dirty="0">
                <a:solidFill>
                  <a:srgbClr val="1A1A1A"/>
                </a:solidFill>
              </a:rPr>
              <a:t>101Hotels — </a:t>
            </a:r>
            <a:r>
              <a:rPr sz="2400" b="0" dirty="0" err="1">
                <a:solidFill>
                  <a:srgbClr val="1A1A1A"/>
                </a:solidFill>
              </a:rPr>
              <a:t>единственный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из</a:t>
            </a:r>
            <a:r>
              <a:rPr sz="2400" b="0" dirty="0">
                <a:solidFill>
                  <a:srgbClr val="1A1A1A"/>
                </a:solidFill>
              </a:rPr>
              <a:t> 30 </a:t>
            </a:r>
            <a:r>
              <a:rPr sz="2400" b="0" dirty="0" err="1">
                <a:solidFill>
                  <a:srgbClr val="1A1A1A"/>
                </a:solidFill>
              </a:rPr>
              <a:t>агрегаторов</a:t>
            </a:r>
            <a:r>
              <a:rPr sz="2400" b="0" dirty="0">
                <a:solidFill>
                  <a:srgbClr val="1A1A1A"/>
                </a:solidFill>
              </a:rPr>
              <a:t> с </a:t>
            </a:r>
            <a:r>
              <a:rPr sz="2400" b="0" dirty="0" err="1">
                <a:solidFill>
                  <a:srgbClr val="1A1A1A"/>
                </a:solidFill>
              </a:rPr>
              <a:t>открытым</a:t>
            </a:r>
            <a:r>
              <a:rPr sz="2400" b="0" dirty="0">
                <a:solidFill>
                  <a:srgbClr val="1A1A1A"/>
                </a:solidFill>
              </a:rPr>
              <a:t> API</a:t>
            </a:r>
          </a:p>
          <a:p>
            <a:pPr>
              <a:spcAft>
                <a:spcPts val="600"/>
              </a:spcAft>
            </a:pPr>
            <a:r>
              <a:rPr sz="2400" b="0" dirty="0" err="1">
                <a:solidFill>
                  <a:srgbClr val="1A1A1A"/>
                </a:solidFill>
              </a:rPr>
              <a:t>Прогноз</a:t>
            </a:r>
            <a:r>
              <a:rPr sz="2400" b="0" dirty="0">
                <a:solidFill>
                  <a:srgbClr val="1A1A1A"/>
                </a:solidFill>
              </a:rPr>
              <a:t> — </a:t>
            </a:r>
            <a:r>
              <a:rPr sz="2400" b="0" dirty="0" err="1">
                <a:solidFill>
                  <a:srgbClr val="1A1A1A"/>
                </a:solidFill>
              </a:rPr>
              <a:t>ансамбль</a:t>
            </a:r>
            <a:r>
              <a:rPr sz="2400" b="0" dirty="0">
                <a:solidFill>
                  <a:srgbClr val="1A1A1A"/>
                </a:solidFill>
              </a:rPr>
              <a:t> ML (</a:t>
            </a:r>
            <a:r>
              <a:rPr sz="2400" b="0" dirty="0" err="1">
                <a:solidFill>
                  <a:srgbClr val="1A1A1A"/>
                </a:solidFill>
              </a:rPr>
              <a:t>классика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не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учитывает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события</a:t>
            </a:r>
            <a:r>
              <a:rPr sz="2400" b="0" dirty="0">
                <a:solidFill>
                  <a:srgbClr val="1A1A1A"/>
                </a:solidFill>
              </a:rPr>
              <a:t>/</a:t>
            </a:r>
            <a:r>
              <a:rPr sz="2400" b="0" dirty="0" err="1">
                <a:solidFill>
                  <a:srgbClr val="1A1A1A"/>
                </a:solidFill>
              </a:rPr>
              <a:t>погоду</a:t>
            </a:r>
            <a:r>
              <a:rPr sz="2400" b="0" dirty="0">
                <a:solidFill>
                  <a:srgbClr val="1A1A1A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sz="2400" b="0" dirty="0" err="1">
                <a:solidFill>
                  <a:srgbClr val="1A1A1A"/>
                </a:solidFill>
              </a:rPr>
              <a:t>Стек</a:t>
            </a:r>
            <a:r>
              <a:rPr sz="2400" b="0" dirty="0">
                <a:solidFill>
                  <a:srgbClr val="1A1A1A"/>
                </a:solidFill>
              </a:rPr>
              <a:t>: </a:t>
            </a:r>
            <a:r>
              <a:rPr sz="2400" b="0" dirty="0" err="1">
                <a:solidFill>
                  <a:srgbClr val="1A1A1A"/>
                </a:solidFill>
              </a:rPr>
              <a:t>FastAPI</a:t>
            </a:r>
            <a:r>
              <a:rPr lang="en-US" sz="2400" dirty="0">
                <a:solidFill>
                  <a:srgbClr val="1A1A1A"/>
                </a:solidFill>
              </a:rPr>
              <a:t>, </a:t>
            </a:r>
            <a:r>
              <a:rPr sz="2400" b="0" dirty="0">
                <a:solidFill>
                  <a:srgbClr val="1A1A1A"/>
                </a:solidFill>
              </a:rPr>
              <a:t>PostgreSQL 16</a:t>
            </a:r>
            <a:r>
              <a:rPr lang="en-US" sz="2400" b="0" dirty="0">
                <a:solidFill>
                  <a:srgbClr val="1A1A1A"/>
                </a:solidFill>
              </a:rPr>
              <a:t>, </a:t>
            </a:r>
            <a:r>
              <a:rPr sz="2400" b="0" dirty="0">
                <a:solidFill>
                  <a:srgbClr val="1A1A1A"/>
                </a:solidFill>
              </a:rPr>
              <a:t>React 18  (</a:t>
            </a:r>
            <a:r>
              <a:rPr sz="2400" b="0" dirty="0" err="1">
                <a:solidFill>
                  <a:srgbClr val="1A1A1A"/>
                </a:solidFill>
              </a:rPr>
              <a:t>миграция</a:t>
            </a:r>
            <a:r>
              <a:rPr sz="2400" b="0" dirty="0">
                <a:solidFill>
                  <a:srgbClr val="1A1A1A"/>
                </a:solidFill>
              </a:rPr>
              <a:t> YDB → PostgreSQL)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4B53DE-8F89-D509-6BA0-198FE8372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 err="1"/>
              <a:t>Подсистема</a:t>
            </a:r>
            <a:r>
              <a:rPr dirty="0"/>
              <a:t> </a:t>
            </a:r>
            <a:r>
              <a:rPr dirty="0" err="1"/>
              <a:t>автоматического</a:t>
            </a:r>
            <a:r>
              <a:rPr dirty="0"/>
              <a:t> </a:t>
            </a:r>
            <a:r>
              <a:rPr dirty="0" err="1"/>
              <a:t>сбора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02920" y="2331720"/>
            <a:ext cx="3383280" cy="224028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400" b="1" dirty="0">
                <a:solidFill>
                  <a:srgbClr val="1F4E79"/>
                </a:solidFill>
              </a:rPr>
              <a:t>ИСТОЧНИКИ</a:t>
            </a:r>
          </a:p>
          <a:p>
            <a:pPr algn="ctr"/>
            <a:r>
              <a:rPr sz="2000" b="0" dirty="0">
                <a:solidFill>
                  <a:srgbClr val="1A1A1A"/>
                </a:solidFill>
              </a:rPr>
              <a:t>8 </a:t>
            </a:r>
            <a:r>
              <a:rPr sz="2000" b="0" dirty="0" err="1">
                <a:solidFill>
                  <a:srgbClr val="1A1A1A"/>
                </a:solidFill>
              </a:rPr>
              <a:t>событий</a:t>
            </a:r>
            <a:endParaRPr sz="2000" b="0" dirty="0">
              <a:solidFill>
                <a:srgbClr val="1A1A1A"/>
              </a:solidFill>
            </a:endParaRPr>
          </a:p>
          <a:p>
            <a:pPr algn="ctr"/>
            <a:r>
              <a:rPr sz="2000" b="0" dirty="0">
                <a:solidFill>
                  <a:srgbClr val="1A1A1A"/>
                </a:solidFill>
              </a:rPr>
              <a:t>3 </a:t>
            </a:r>
            <a:r>
              <a:rPr sz="2000" b="0" dirty="0" err="1">
                <a:solidFill>
                  <a:srgbClr val="1A1A1A"/>
                </a:solidFill>
              </a:rPr>
              <a:t>размещения</a:t>
            </a:r>
            <a:endParaRPr sz="2000" b="0" dirty="0">
              <a:solidFill>
                <a:srgbClr val="1A1A1A"/>
              </a:solidFill>
            </a:endParaRPr>
          </a:p>
          <a:p>
            <a:pPr algn="ctr"/>
            <a:r>
              <a:rPr sz="2000" b="0" dirty="0" err="1">
                <a:solidFill>
                  <a:srgbClr val="1A1A1A"/>
                </a:solidFill>
              </a:rPr>
              <a:t>погода</a:t>
            </a:r>
            <a:r>
              <a:rPr sz="2000" b="0" dirty="0">
                <a:solidFill>
                  <a:srgbClr val="1A1A1A"/>
                </a:solidFill>
              </a:rPr>
              <a:t> Open-</a:t>
            </a:r>
            <a:r>
              <a:rPr sz="2000" b="0" dirty="0" err="1">
                <a:solidFill>
                  <a:srgbClr val="1A1A1A"/>
                </a:solidFill>
              </a:rPr>
              <a:t>Meteo</a:t>
            </a:r>
            <a:endParaRPr sz="2000" b="0" dirty="0">
              <a:solidFill>
                <a:srgbClr val="1A1A1A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77639" y="2331720"/>
            <a:ext cx="548640" cy="2240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2331720"/>
            <a:ext cx="3246120" cy="224028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800" b="1" dirty="0">
                <a:solidFill>
                  <a:srgbClr val="1F4E79"/>
                </a:solidFill>
              </a:rPr>
              <a:t>СБОРЩИК</a:t>
            </a:r>
          </a:p>
          <a:p>
            <a:pPr algn="ctr"/>
            <a:r>
              <a:rPr sz="2000" b="0" dirty="0" err="1">
                <a:solidFill>
                  <a:srgbClr val="1A1A1A"/>
                </a:solidFill>
              </a:rPr>
              <a:t>по</a:t>
            </a:r>
            <a:r>
              <a:rPr sz="2000" b="0" dirty="0">
                <a:solidFill>
                  <a:srgbClr val="1A1A1A"/>
                </a:solidFill>
              </a:rPr>
              <a:t> </a:t>
            </a:r>
            <a:r>
              <a:rPr sz="2000" b="0" dirty="0" err="1">
                <a:solidFill>
                  <a:srgbClr val="1A1A1A"/>
                </a:solidFill>
              </a:rPr>
              <a:t>расписанию</a:t>
            </a:r>
            <a:endParaRPr sz="2000" b="0" dirty="0">
              <a:solidFill>
                <a:srgbClr val="1A1A1A"/>
              </a:solidFill>
            </a:endParaRPr>
          </a:p>
          <a:p>
            <a:pPr algn="ctr"/>
            <a:r>
              <a:rPr sz="2000" b="0" dirty="0" err="1">
                <a:solidFill>
                  <a:srgbClr val="1A1A1A"/>
                </a:solidFill>
              </a:rPr>
              <a:t>дедупликация</a:t>
            </a:r>
            <a:endParaRPr sz="2000" b="0" dirty="0">
              <a:solidFill>
                <a:srgbClr val="1A1A1A"/>
              </a:solidFill>
            </a:endParaRPr>
          </a:p>
          <a:p>
            <a:pPr algn="ctr"/>
            <a:r>
              <a:rPr sz="2000" b="0" dirty="0">
                <a:solidFill>
                  <a:srgbClr val="1A1A1A"/>
                </a:solidFill>
              </a:rPr>
              <a:t>AI-</a:t>
            </a:r>
            <a:r>
              <a:rPr sz="2000" b="0" dirty="0" err="1">
                <a:solidFill>
                  <a:srgbClr val="1A1A1A"/>
                </a:solidFill>
              </a:rPr>
              <a:t>фильтр</a:t>
            </a:r>
            <a:r>
              <a:rPr sz="2000" b="0" dirty="0">
                <a:solidFill>
                  <a:srgbClr val="1A1A1A"/>
                </a:solidFill>
              </a:rPr>
              <a:t> Telegram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2331720"/>
            <a:ext cx="548640" cy="2240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331720"/>
            <a:ext cx="3291840" cy="2240280"/>
          </a:xfrm>
          <a:prstGeom prst="roundRect">
            <a:avLst/>
          </a:prstGeom>
          <a:solidFill>
            <a:srgbClr val="1F4E79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</a:rPr>
              <a:t>БАЗА</a:t>
            </a:r>
          </a:p>
          <a:p>
            <a:pPr algn="ctr"/>
            <a:r>
              <a:rPr sz="2800" b="1" dirty="0">
                <a:solidFill>
                  <a:srgbClr val="FFFFFF"/>
                </a:solidFill>
              </a:rPr>
              <a:t>1428 </a:t>
            </a:r>
            <a:r>
              <a:rPr sz="2800" b="1" dirty="0" err="1">
                <a:solidFill>
                  <a:srgbClr val="FFFFFF"/>
                </a:solidFill>
              </a:rPr>
              <a:t>объектов</a:t>
            </a:r>
            <a:endParaRPr sz="2800" b="1" dirty="0">
              <a:solidFill>
                <a:srgbClr val="FFFFFF"/>
              </a:solidFill>
            </a:endParaRPr>
          </a:p>
          <a:p>
            <a:pPr algn="ctr"/>
            <a:r>
              <a:rPr sz="2800" b="1" dirty="0">
                <a:solidFill>
                  <a:srgbClr val="FFFFFF"/>
                </a:solidFill>
              </a:rPr>
              <a:t>450+ </a:t>
            </a:r>
            <a:r>
              <a:rPr sz="2800" b="1" dirty="0" err="1">
                <a:solidFill>
                  <a:srgbClr val="FFFFFF"/>
                </a:solidFill>
              </a:rPr>
              <a:t>событий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4892040"/>
            <a:ext cx="110642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400" b="0" dirty="0" err="1">
                <a:solidFill>
                  <a:srgbClr val="595959"/>
                </a:solidFill>
              </a:rPr>
              <a:t>Сбор</a:t>
            </a:r>
            <a:r>
              <a:rPr sz="2400" b="0" dirty="0">
                <a:solidFill>
                  <a:srgbClr val="595959"/>
                </a:solidFill>
              </a:rPr>
              <a:t> </a:t>
            </a:r>
            <a:r>
              <a:rPr sz="2400" b="0" dirty="0" err="1">
                <a:solidFill>
                  <a:srgbClr val="595959"/>
                </a:solidFill>
              </a:rPr>
              <a:t>полностью</a:t>
            </a:r>
            <a:r>
              <a:rPr sz="2400" b="0" dirty="0">
                <a:solidFill>
                  <a:srgbClr val="595959"/>
                </a:solidFill>
              </a:rPr>
              <a:t> </a:t>
            </a:r>
            <a:r>
              <a:rPr sz="2400" b="0" dirty="0" err="1">
                <a:solidFill>
                  <a:srgbClr val="595959"/>
                </a:solidFill>
              </a:rPr>
              <a:t>автоматический</a:t>
            </a:r>
            <a:r>
              <a:rPr sz="2400" b="0" dirty="0">
                <a:solidFill>
                  <a:srgbClr val="595959"/>
                </a:solidFill>
              </a:rPr>
              <a:t>, </a:t>
            </a:r>
            <a:r>
              <a:rPr sz="2400" b="0" dirty="0" err="1">
                <a:solidFill>
                  <a:srgbClr val="595959"/>
                </a:solidFill>
              </a:rPr>
              <a:t>круглосуточно</a:t>
            </a:r>
            <a:r>
              <a:rPr sz="2400" b="0" dirty="0">
                <a:solidFill>
                  <a:srgbClr val="595959"/>
                </a:solidFill>
              </a:rPr>
              <a:t>: </a:t>
            </a:r>
            <a:r>
              <a:rPr sz="2400" b="0" dirty="0" err="1">
                <a:solidFill>
                  <a:srgbClr val="595959"/>
                </a:solidFill>
              </a:rPr>
              <a:t>события</a:t>
            </a:r>
            <a:r>
              <a:rPr sz="2400" b="0" dirty="0">
                <a:solidFill>
                  <a:srgbClr val="595959"/>
                </a:solidFill>
              </a:rPr>
              <a:t> 6 ч</a:t>
            </a:r>
            <a:r>
              <a:rPr lang="en-US" sz="2400" b="0" dirty="0">
                <a:solidFill>
                  <a:srgbClr val="595959"/>
                </a:solidFill>
              </a:rPr>
              <a:t>, </a:t>
            </a:r>
            <a:r>
              <a:rPr sz="2400" b="0" dirty="0" err="1">
                <a:solidFill>
                  <a:srgbClr val="595959"/>
                </a:solidFill>
              </a:rPr>
              <a:t>отели</a:t>
            </a:r>
            <a:r>
              <a:rPr sz="2400" b="0" dirty="0">
                <a:solidFill>
                  <a:srgbClr val="595959"/>
                </a:solidFill>
              </a:rPr>
              <a:t> 2 ч</a:t>
            </a:r>
            <a:r>
              <a:rPr lang="en-US" sz="2400" dirty="0">
                <a:solidFill>
                  <a:srgbClr val="595959"/>
                </a:solidFill>
              </a:rPr>
              <a:t>, </a:t>
            </a:r>
            <a:r>
              <a:rPr sz="2400" b="0" dirty="0" err="1">
                <a:solidFill>
                  <a:srgbClr val="595959"/>
                </a:solidFill>
              </a:rPr>
              <a:t>погода</a:t>
            </a:r>
            <a:r>
              <a:rPr sz="2400" b="0" dirty="0">
                <a:solidFill>
                  <a:srgbClr val="595959"/>
                </a:solidFill>
              </a:rPr>
              <a:t> 3 ч</a:t>
            </a:r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045BE8D8-B766-6866-7BA0-404CA1DEB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 err="1"/>
              <a:t>Ансамблевый</a:t>
            </a:r>
            <a:r>
              <a:rPr dirty="0"/>
              <a:t> </a:t>
            </a:r>
            <a:r>
              <a:rPr dirty="0" err="1"/>
              <a:t>метод</a:t>
            </a:r>
            <a:r>
              <a:rPr dirty="0"/>
              <a:t> </a:t>
            </a:r>
            <a:r>
              <a:rPr dirty="0" err="1"/>
              <a:t>прогнозирования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037076" y="1280160"/>
            <a:ext cx="4114800" cy="64008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400" b="1" dirty="0">
                <a:solidFill>
                  <a:srgbClr val="1F4E79"/>
                </a:solidFill>
              </a:rPr>
              <a:t>38 </a:t>
            </a:r>
            <a:r>
              <a:rPr sz="2400" b="1" dirty="0" err="1">
                <a:solidFill>
                  <a:srgbClr val="1F4E79"/>
                </a:solidFill>
              </a:rPr>
              <a:t>признаков</a:t>
            </a:r>
            <a:r>
              <a:rPr sz="2400" b="1" dirty="0">
                <a:solidFill>
                  <a:srgbClr val="1F4E79"/>
                </a:solidFill>
              </a:rPr>
              <a:t> · 8 </a:t>
            </a:r>
            <a:r>
              <a:rPr sz="2400" b="1" dirty="0" err="1">
                <a:solidFill>
                  <a:srgbClr val="1F4E79"/>
                </a:solidFill>
              </a:rPr>
              <a:t>групп</a:t>
            </a:r>
            <a:endParaRPr sz="2400" b="1" dirty="0">
              <a:solidFill>
                <a:srgbClr val="1F4E79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94742" y="1920240"/>
            <a:ext cx="399468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 dirty="0">
                <a:solidFill>
                  <a:srgbClr val="1F4E79"/>
                </a:solidFill>
              </a:rPr>
              <a:t>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5" y="2423160"/>
            <a:ext cx="3383280" cy="109728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400" b="1">
                <a:solidFill>
                  <a:srgbClr val="1F4E79"/>
                </a:solidFill>
              </a:rPr>
              <a:t>Prophet</a:t>
            </a:r>
          </a:p>
          <a:p>
            <a:pPr algn="ctr"/>
            <a:r>
              <a:rPr b="0">
                <a:solidFill>
                  <a:srgbClr val="1A1A1A"/>
                </a:solidFill>
              </a:rPr>
              <a:t>сезонность, тренд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2836" y="2423160"/>
            <a:ext cx="3383280" cy="109728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400" b="1">
                <a:solidFill>
                  <a:srgbClr val="1F4E79"/>
                </a:solidFill>
              </a:rPr>
              <a:t>NeuralProphet</a:t>
            </a:r>
          </a:p>
          <a:p>
            <a:pPr algn="ctr"/>
            <a:r>
              <a:rPr b="0">
                <a:solidFill>
                  <a:srgbClr val="1A1A1A"/>
                </a:solidFill>
              </a:rPr>
              <a:t>нелинейность, лаги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43316" y="2423160"/>
            <a:ext cx="3383280" cy="109728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400" b="1">
                <a:solidFill>
                  <a:srgbClr val="1F4E79"/>
                </a:solidFill>
              </a:rPr>
              <a:t>XGBoost</a:t>
            </a:r>
          </a:p>
          <a:p>
            <a:pPr algn="ctr"/>
            <a:r>
              <a:rPr b="0">
                <a:solidFill>
                  <a:srgbClr val="1A1A1A"/>
                </a:solidFill>
              </a:rPr>
              <a:t>события, погода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4742" y="3510290"/>
            <a:ext cx="399468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 dirty="0">
                <a:solidFill>
                  <a:srgbClr val="1F4E79"/>
                </a:solidFill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4076" y="4023360"/>
            <a:ext cx="6400800" cy="64008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000" b="1">
                <a:solidFill>
                  <a:srgbClr val="1A1A1A"/>
                </a:solidFill>
              </a:rPr>
              <a:t>Чем точнее модель, тем больше её вклад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4742" y="4607570"/>
            <a:ext cx="399468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1F4E79"/>
                </a:solidFill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4076" y="5074920"/>
            <a:ext cx="6400800" cy="777240"/>
          </a:xfrm>
          <a:prstGeom prst="roundRect">
            <a:avLst/>
          </a:prstGeom>
          <a:solidFill>
            <a:srgbClr val="1F4E79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Прогноз + 80% коридор уверенности</a:t>
            </a:r>
          </a:p>
        </p:txBody>
      </p:sp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DD1DC3C1-D7E7-70A3-A96E-253CA14E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3100" dirty="0" err="1"/>
              <a:t>Качество</a:t>
            </a:r>
            <a:r>
              <a:rPr sz="3100" dirty="0"/>
              <a:t> </a:t>
            </a:r>
            <a:r>
              <a:rPr sz="3100" dirty="0" err="1"/>
              <a:t>прогноза</a:t>
            </a:r>
            <a:r>
              <a:rPr sz="3100" dirty="0"/>
              <a:t> (</a:t>
            </a:r>
            <a:r>
              <a:rPr sz="3100" dirty="0" err="1"/>
              <a:t>скользящая</a:t>
            </a:r>
            <a:r>
              <a:rPr sz="3100" dirty="0"/>
              <a:t> </a:t>
            </a:r>
            <a:r>
              <a:rPr sz="3100" dirty="0" err="1"/>
              <a:t>проверка</a:t>
            </a:r>
            <a:r>
              <a:rPr sz="3100" dirty="0"/>
              <a:t>, </a:t>
            </a:r>
            <a:r>
              <a:rPr sz="3100" dirty="0" err="1"/>
              <a:t>горизонт</a:t>
            </a:r>
            <a:r>
              <a:rPr sz="3100" dirty="0"/>
              <a:t> 14 </a:t>
            </a:r>
            <a:r>
              <a:rPr sz="3100" dirty="0" err="1"/>
              <a:t>суток</a:t>
            </a:r>
            <a:r>
              <a:rPr dirty="0"/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617180"/>
              </p:ext>
            </p:extLst>
          </p:nvPr>
        </p:nvGraphicFramePr>
        <p:xfrm>
          <a:off x="1097280" y="1554480"/>
          <a:ext cx="9966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</a:rPr>
                        <a:t>Район</a:t>
                      </a:r>
                      <a:endParaRPr sz="24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</a:rPr>
                        <a:t>Prophet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</a:rPr>
                        <a:t>Ensemble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400" b="1" dirty="0" err="1">
                          <a:solidFill>
                            <a:srgbClr val="1A1A1A"/>
                          </a:solidFill>
                        </a:rPr>
                        <a:t>Иркутский</a:t>
                      </a:r>
                      <a:endParaRPr sz="2400" b="1" dirty="0">
                        <a:solidFill>
                          <a:srgbClr val="1A1A1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</a:rPr>
                        <a:t>21,2 ± 19,3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</a:rPr>
                        <a:t>6,75 ± 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F4E79"/>
                          </a:solidFill>
                        </a:rPr>
                        <a:t>6,46 ± 3,8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</a:rPr>
                        <a:t>Слюдянский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</a:rPr>
                        <a:t>13,7 ± 8,9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</a:rPr>
                        <a:t>9,92 ± 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F4E79"/>
                          </a:solidFill>
                        </a:rPr>
                        <a:t>8,70 ± 3,2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1A1A1A"/>
                          </a:solidFill>
                        </a:rPr>
                        <a:t>Ольхонский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</a:rPr>
                        <a:t>19,2 ± 11,7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A1A1A"/>
                          </a:solidFill>
                        </a:rPr>
                        <a:t>10,84 ± 10,7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1F4E79"/>
                          </a:solidFill>
                        </a:rPr>
                        <a:t>9,94 ± 6,0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" y="3886200"/>
            <a:ext cx="9966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2000" b="0" dirty="0" err="1">
                <a:solidFill>
                  <a:srgbClr val="595959"/>
                </a:solidFill>
              </a:rPr>
              <a:t>Ошибка</a:t>
            </a:r>
            <a:r>
              <a:rPr sz="2000" b="0" dirty="0">
                <a:solidFill>
                  <a:srgbClr val="595959"/>
                </a:solidFill>
              </a:rPr>
              <a:t> RMSE в </a:t>
            </a:r>
            <a:r>
              <a:rPr sz="2000" b="0" dirty="0" err="1">
                <a:solidFill>
                  <a:srgbClr val="595959"/>
                </a:solidFill>
              </a:rPr>
              <a:t>процентных</a:t>
            </a:r>
            <a:r>
              <a:rPr sz="2000" b="0" dirty="0">
                <a:solidFill>
                  <a:srgbClr val="595959"/>
                </a:solidFill>
              </a:rPr>
              <a:t> </a:t>
            </a:r>
            <a:r>
              <a:rPr sz="2000" b="0" dirty="0" err="1">
                <a:solidFill>
                  <a:srgbClr val="595959"/>
                </a:solidFill>
              </a:rPr>
              <a:t>пунктах</a:t>
            </a:r>
            <a:r>
              <a:rPr sz="2000" b="0" dirty="0">
                <a:solidFill>
                  <a:srgbClr val="595959"/>
                </a:solidFill>
              </a:rPr>
              <a:t>; </a:t>
            </a:r>
            <a:r>
              <a:rPr sz="2000" b="0" dirty="0" err="1">
                <a:solidFill>
                  <a:srgbClr val="595959"/>
                </a:solidFill>
              </a:rPr>
              <a:t>формат</a:t>
            </a:r>
            <a:r>
              <a:rPr sz="2000" b="0" dirty="0">
                <a:solidFill>
                  <a:srgbClr val="595959"/>
                </a:solidFill>
              </a:rPr>
              <a:t> «</a:t>
            </a:r>
            <a:r>
              <a:rPr sz="2000" b="0" dirty="0" err="1">
                <a:solidFill>
                  <a:srgbClr val="595959"/>
                </a:solidFill>
              </a:rPr>
              <a:t>среднее</a:t>
            </a:r>
            <a:r>
              <a:rPr sz="2000" b="0" dirty="0">
                <a:solidFill>
                  <a:srgbClr val="595959"/>
                </a:solidFill>
              </a:rPr>
              <a:t> ± </a:t>
            </a:r>
            <a:r>
              <a:rPr sz="2000" b="0" dirty="0" err="1">
                <a:solidFill>
                  <a:srgbClr val="595959"/>
                </a:solidFill>
              </a:rPr>
              <a:t>разброс</a:t>
            </a:r>
            <a:r>
              <a:rPr sz="2000" b="0" dirty="0">
                <a:solidFill>
                  <a:srgbClr val="595959"/>
                </a:solidFill>
              </a:rPr>
              <a:t> </a:t>
            </a:r>
            <a:r>
              <a:rPr sz="2000" b="0" dirty="0" err="1">
                <a:solidFill>
                  <a:srgbClr val="595959"/>
                </a:solidFill>
              </a:rPr>
              <a:t>между</a:t>
            </a:r>
            <a:r>
              <a:rPr sz="2000" b="0" dirty="0">
                <a:solidFill>
                  <a:srgbClr val="595959"/>
                </a:solidFill>
              </a:rPr>
              <a:t> </a:t>
            </a:r>
            <a:r>
              <a:rPr sz="2000" b="0" dirty="0" err="1">
                <a:solidFill>
                  <a:srgbClr val="595959"/>
                </a:solidFill>
              </a:rPr>
              <a:t>периодами</a:t>
            </a:r>
            <a:r>
              <a:rPr sz="2000" b="0" dirty="0">
                <a:solidFill>
                  <a:srgbClr val="595959"/>
                </a:solidFill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34840"/>
            <a:ext cx="10972800" cy="16722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400" b="0" dirty="0" err="1">
                <a:solidFill>
                  <a:srgbClr val="1A1A1A"/>
                </a:solidFill>
              </a:rPr>
              <a:t>Лучшая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одиночная</a:t>
            </a:r>
            <a:r>
              <a:rPr sz="2400" b="0" dirty="0">
                <a:solidFill>
                  <a:srgbClr val="1A1A1A"/>
                </a:solidFill>
              </a:rPr>
              <a:t> — </a:t>
            </a:r>
            <a:r>
              <a:rPr sz="2400" b="0" dirty="0" err="1">
                <a:solidFill>
                  <a:srgbClr val="1A1A1A"/>
                </a:solidFill>
              </a:rPr>
              <a:t>XGBoost</a:t>
            </a:r>
            <a:r>
              <a:rPr sz="2400" b="0" dirty="0">
                <a:solidFill>
                  <a:srgbClr val="1A1A1A"/>
                </a:solidFill>
              </a:rPr>
              <a:t>; </a:t>
            </a:r>
            <a:r>
              <a:rPr sz="2400" b="0" dirty="0" err="1">
                <a:solidFill>
                  <a:srgbClr val="1A1A1A"/>
                </a:solidFill>
              </a:rPr>
              <a:t>ансамбль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выигрывает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на</a:t>
            </a:r>
            <a:r>
              <a:rPr sz="2400" b="0" dirty="0">
                <a:solidFill>
                  <a:srgbClr val="1A1A1A"/>
                </a:solidFill>
              </a:rPr>
              <a:t> 2 </a:t>
            </a:r>
            <a:r>
              <a:rPr sz="2400" b="0" dirty="0" err="1">
                <a:solidFill>
                  <a:srgbClr val="1A1A1A"/>
                </a:solidFill>
              </a:rPr>
              <a:t>районах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из</a:t>
            </a:r>
            <a:r>
              <a:rPr sz="2400" b="0" dirty="0">
                <a:solidFill>
                  <a:srgbClr val="1A1A1A"/>
                </a:solidFill>
              </a:rPr>
              <a:t> 3 и </a:t>
            </a:r>
            <a:r>
              <a:rPr sz="2400" b="0" dirty="0" err="1">
                <a:solidFill>
                  <a:srgbClr val="1A1A1A"/>
                </a:solidFill>
              </a:rPr>
              <a:t>снижает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разброс</a:t>
            </a:r>
            <a:endParaRPr sz="2400" b="0" dirty="0">
              <a:solidFill>
                <a:srgbClr val="1A1A1A"/>
              </a:solidFill>
            </a:endParaRPr>
          </a:p>
          <a:p>
            <a:pPr>
              <a:spcAft>
                <a:spcPts val="600"/>
              </a:spcAft>
            </a:pPr>
            <a:r>
              <a:rPr sz="2400" b="0" dirty="0" err="1">
                <a:solidFill>
                  <a:srgbClr val="1A1A1A"/>
                </a:solidFill>
              </a:rPr>
              <a:t>Достаточно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для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относительных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решений</a:t>
            </a:r>
            <a:r>
              <a:rPr sz="2400" b="0" dirty="0">
                <a:solidFill>
                  <a:srgbClr val="1A1A1A"/>
                </a:solidFill>
              </a:rPr>
              <a:t>; </a:t>
            </a:r>
            <a:r>
              <a:rPr sz="2400" b="0" dirty="0" err="1">
                <a:solidFill>
                  <a:srgbClr val="1A1A1A"/>
                </a:solidFill>
              </a:rPr>
              <a:t>точная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калибровка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под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конкретный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отель</a:t>
            </a:r>
            <a:r>
              <a:rPr sz="2400" b="0" dirty="0">
                <a:solidFill>
                  <a:srgbClr val="1A1A1A"/>
                </a:solidFill>
              </a:rPr>
              <a:t> — </a:t>
            </a:r>
            <a:r>
              <a:rPr sz="2400" b="0" dirty="0" err="1">
                <a:solidFill>
                  <a:srgbClr val="1A1A1A"/>
                </a:solidFill>
              </a:rPr>
              <a:t>следующий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шаг</a:t>
            </a:r>
            <a:endParaRPr sz="2400" b="0" dirty="0">
              <a:solidFill>
                <a:srgbClr val="1A1A1A"/>
              </a:solidFill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2FF1A1D4-0BFE-5D9F-B7FC-E07FD5FE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 err="1"/>
              <a:t>Архитектура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и </a:t>
            </a:r>
            <a:r>
              <a:rPr dirty="0" err="1"/>
              <a:t>интеллектуальный</a:t>
            </a:r>
            <a:r>
              <a:rPr dirty="0"/>
              <a:t> </a:t>
            </a:r>
            <a:r>
              <a:rPr dirty="0" err="1"/>
              <a:t>агент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286191"/>
            <a:ext cx="5212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400" b="1" dirty="0" err="1">
                <a:solidFill>
                  <a:srgbClr val="1F4E79"/>
                </a:solidFill>
              </a:rPr>
              <a:t>Граф</a:t>
            </a:r>
            <a:r>
              <a:rPr sz="2400" b="1" dirty="0">
                <a:solidFill>
                  <a:srgbClr val="1F4E79"/>
                </a:solidFill>
              </a:rPr>
              <a:t> </a:t>
            </a:r>
            <a:r>
              <a:rPr sz="2400" b="1" dirty="0" err="1">
                <a:solidFill>
                  <a:srgbClr val="1F4E79"/>
                </a:solidFill>
              </a:rPr>
              <a:t>состояний</a:t>
            </a:r>
            <a:r>
              <a:rPr sz="2400" b="1" dirty="0">
                <a:solidFill>
                  <a:srgbClr val="1F4E79"/>
                </a:solidFill>
              </a:rPr>
              <a:t> </a:t>
            </a:r>
            <a:r>
              <a:rPr sz="2400" b="1" dirty="0" err="1">
                <a:solidFill>
                  <a:srgbClr val="1F4E79"/>
                </a:solidFill>
              </a:rPr>
              <a:t>LangGraph</a:t>
            </a:r>
            <a:endParaRPr sz="2400" b="1" dirty="0">
              <a:solidFill>
                <a:srgbClr val="1F4E79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240280" y="1920240"/>
            <a:ext cx="1737360" cy="50292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000" b="1">
                <a:solidFill>
                  <a:srgbClr val="1F4E79"/>
                </a:solidFill>
              </a:rPr>
              <a:t>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3196" y="2308295"/>
            <a:ext cx="431529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 dirty="0">
                <a:solidFill>
                  <a:srgbClr val="1F4E79"/>
                </a:solidFill>
              </a:rP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2743200"/>
            <a:ext cx="2194560" cy="64008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000" b="1">
                <a:solidFill>
                  <a:srgbClr val="1F4E79"/>
                </a:solidFill>
              </a:rPr>
              <a:t>model (LLM)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6639" y="3258830"/>
            <a:ext cx="460383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 dirty="0">
                <a:solidFill>
                  <a:srgbClr val="1F4E79"/>
                </a:solidFill>
              </a:rPr>
              <a:t>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3657600"/>
            <a:ext cx="2194560" cy="64008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000" b="1">
                <a:solidFill>
                  <a:srgbClr val="1F4E79"/>
                </a:solidFill>
              </a:rPr>
              <a:t>tools (расчёты)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3196" y="4169885"/>
            <a:ext cx="431529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1F4E79"/>
                </a:solidFill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4663440"/>
            <a:ext cx="1737360" cy="50292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000" b="1">
                <a:solidFill>
                  <a:srgbClr val="1F4E79"/>
                </a:solidFill>
              </a:rPr>
              <a:t>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521208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400" b="0" dirty="0" err="1">
                <a:solidFill>
                  <a:srgbClr val="595959"/>
                </a:solidFill>
              </a:rPr>
              <a:t>клиент-сервер</a:t>
            </a:r>
            <a:r>
              <a:rPr sz="2400" b="0" dirty="0">
                <a:solidFill>
                  <a:srgbClr val="595959"/>
                </a:solidFill>
              </a:rPr>
              <a:t>, </a:t>
            </a:r>
            <a:r>
              <a:rPr sz="2400" b="0" dirty="0" err="1">
                <a:solidFill>
                  <a:srgbClr val="595959"/>
                </a:solidFill>
              </a:rPr>
              <a:t>модульное</a:t>
            </a:r>
            <a:r>
              <a:rPr sz="2400" b="0" dirty="0">
                <a:solidFill>
                  <a:srgbClr val="595959"/>
                </a:solidFill>
              </a:rPr>
              <a:t> </a:t>
            </a:r>
            <a:r>
              <a:rPr sz="2400" b="0" dirty="0" err="1">
                <a:solidFill>
                  <a:srgbClr val="595959"/>
                </a:solidFill>
              </a:rPr>
              <a:t>ядро</a:t>
            </a:r>
            <a:r>
              <a:rPr sz="2400" b="0" dirty="0">
                <a:solidFill>
                  <a:srgbClr val="595959"/>
                </a:solidFill>
              </a:rPr>
              <a:t> (</a:t>
            </a:r>
            <a:r>
              <a:rPr sz="2400" b="0" dirty="0" err="1">
                <a:solidFill>
                  <a:srgbClr val="595959"/>
                </a:solidFill>
              </a:rPr>
              <a:t>без</a:t>
            </a:r>
            <a:r>
              <a:rPr sz="2400" b="0" dirty="0">
                <a:solidFill>
                  <a:srgbClr val="595959"/>
                </a:solidFill>
              </a:rPr>
              <a:t> </a:t>
            </a:r>
            <a:r>
              <a:rPr sz="2400" b="0" dirty="0" err="1">
                <a:solidFill>
                  <a:srgbClr val="595959"/>
                </a:solidFill>
              </a:rPr>
              <a:t>микросервисов</a:t>
            </a:r>
            <a:r>
              <a:rPr sz="2400" b="0" dirty="0">
                <a:solidFill>
                  <a:srgbClr val="595959"/>
                </a:solidFill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286190"/>
            <a:ext cx="57607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400" b="1" dirty="0">
                <a:solidFill>
                  <a:srgbClr val="1F4E79"/>
                </a:solidFill>
              </a:rPr>
              <a:t>12 </a:t>
            </a:r>
            <a:r>
              <a:rPr sz="2400" b="1" dirty="0" err="1">
                <a:solidFill>
                  <a:srgbClr val="1F4E79"/>
                </a:solidFill>
              </a:rPr>
              <a:t>инструментов</a:t>
            </a:r>
            <a:r>
              <a:rPr sz="2400" b="1" dirty="0">
                <a:solidFill>
                  <a:srgbClr val="1F4E79"/>
                </a:solidFill>
              </a:rPr>
              <a:t> · </a:t>
            </a:r>
            <a:r>
              <a:rPr sz="2400" b="1" dirty="0" err="1">
                <a:solidFill>
                  <a:srgbClr val="1F4E79"/>
                </a:solidFill>
              </a:rPr>
              <a:t>пример</a:t>
            </a:r>
            <a:r>
              <a:rPr sz="2400" b="1" dirty="0">
                <a:solidFill>
                  <a:srgbClr val="1F4E79"/>
                </a:solidFill>
              </a:rPr>
              <a:t> </a:t>
            </a:r>
            <a:r>
              <a:rPr sz="2400" b="1" dirty="0" err="1">
                <a:solidFill>
                  <a:srgbClr val="1F4E79"/>
                </a:solidFill>
              </a:rPr>
              <a:t>работы</a:t>
            </a:r>
            <a:endParaRPr sz="2400" b="1" dirty="0">
              <a:solidFill>
                <a:srgbClr val="1F4E79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89320" y="1920240"/>
            <a:ext cx="5715000" cy="2834640"/>
          </a:xfrm>
          <a:prstGeom prst="roundRect">
            <a:avLst/>
          </a:prstGeom>
          <a:solidFill>
            <a:srgbClr val="E7EEF6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2400" b="0" dirty="0">
                <a:solidFill>
                  <a:srgbClr val="1A1A1A"/>
                </a:solidFill>
              </a:rPr>
              <a:t>«</a:t>
            </a:r>
            <a:r>
              <a:rPr sz="2400" b="0" dirty="0" err="1">
                <a:solidFill>
                  <a:srgbClr val="1A1A1A"/>
                </a:solidFill>
              </a:rPr>
              <a:t>Сравни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Иркутский</a:t>
            </a:r>
            <a:r>
              <a:rPr sz="2400" b="0" dirty="0">
                <a:solidFill>
                  <a:srgbClr val="1A1A1A"/>
                </a:solidFill>
              </a:rPr>
              <a:t> и </a:t>
            </a:r>
            <a:r>
              <a:rPr sz="2400" b="0" dirty="0" err="1">
                <a:solidFill>
                  <a:srgbClr val="1A1A1A"/>
                </a:solidFill>
              </a:rPr>
              <a:t>Ольхонский</a:t>
            </a:r>
            <a:endParaRPr sz="2400" b="0" dirty="0">
              <a:solidFill>
                <a:srgbClr val="1A1A1A"/>
              </a:solidFill>
            </a:endParaRPr>
          </a:p>
          <a:p>
            <a:pPr algn="ctr"/>
            <a:r>
              <a:rPr sz="2400" b="0" dirty="0" err="1">
                <a:solidFill>
                  <a:srgbClr val="1A1A1A"/>
                </a:solidFill>
              </a:rPr>
              <a:t>за</a:t>
            </a:r>
            <a:r>
              <a:rPr sz="2400" b="0" dirty="0">
                <a:solidFill>
                  <a:srgbClr val="1A1A1A"/>
                </a:solidFill>
              </a:rPr>
              <a:t> 30 </a:t>
            </a:r>
            <a:r>
              <a:rPr sz="2400" b="0" dirty="0" err="1">
                <a:solidFill>
                  <a:srgbClr val="1A1A1A"/>
                </a:solidFill>
              </a:rPr>
              <a:t>дней</a:t>
            </a:r>
            <a:r>
              <a:rPr sz="2400" b="0" dirty="0">
                <a:solidFill>
                  <a:srgbClr val="1A1A1A"/>
                </a:solidFill>
              </a:rPr>
              <a:t>»</a:t>
            </a:r>
          </a:p>
          <a:p>
            <a:pPr algn="ctr"/>
            <a:r>
              <a:rPr sz="2800" b="1" dirty="0">
                <a:solidFill>
                  <a:srgbClr val="1F4E79"/>
                </a:solidFill>
              </a:rPr>
              <a:t>↓</a:t>
            </a:r>
          </a:p>
          <a:p>
            <a:pPr algn="ctr"/>
            <a:r>
              <a:rPr sz="2400" b="1" dirty="0" err="1">
                <a:solidFill>
                  <a:srgbClr val="1F4E79"/>
                </a:solidFill>
              </a:rPr>
              <a:t>Ольхонский</a:t>
            </a:r>
            <a:r>
              <a:rPr sz="2400" b="1" dirty="0">
                <a:solidFill>
                  <a:srgbClr val="1F4E79"/>
                </a:solidFill>
              </a:rPr>
              <a:t> RevPAR  1 884 ₽</a:t>
            </a:r>
          </a:p>
          <a:p>
            <a:pPr algn="ctr"/>
            <a:r>
              <a:rPr sz="2400" b="1" dirty="0" err="1">
                <a:solidFill>
                  <a:srgbClr val="1F4E79"/>
                </a:solidFill>
              </a:rPr>
              <a:t>Иркутский</a:t>
            </a:r>
            <a:r>
              <a:rPr sz="2400" b="1" dirty="0">
                <a:solidFill>
                  <a:srgbClr val="1F4E79"/>
                </a:solidFill>
              </a:rPr>
              <a:t>  RevPAR  1 749 ₽</a:t>
            </a:r>
          </a:p>
          <a:p>
            <a:pPr algn="ctr"/>
            <a:r>
              <a:rPr sz="2400" b="1" dirty="0" err="1">
                <a:solidFill>
                  <a:srgbClr val="1A1A1A"/>
                </a:solidFill>
              </a:rPr>
              <a:t>разница</a:t>
            </a:r>
            <a:r>
              <a:rPr sz="2400" b="1" dirty="0">
                <a:solidFill>
                  <a:srgbClr val="1A1A1A"/>
                </a:solidFill>
              </a:rPr>
              <a:t> +135 ₽ с </a:t>
            </a:r>
            <a:r>
              <a:rPr sz="2400" b="1" dirty="0" err="1">
                <a:solidFill>
                  <a:srgbClr val="1A1A1A"/>
                </a:solidFill>
              </a:rPr>
              <a:t>номера</a:t>
            </a:r>
            <a:r>
              <a:rPr sz="2400" b="1" dirty="0">
                <a:solidFill>
                  <a:srgbClr val="1A1A1A"/>
                </a:solidFill>
              </a:rPr>
              <a:t> в </a:t>
            </a:r>
            <a:r>
              <a:rPr sz="2400" b="1" dirty="0" err="1">
                <a:solidFill>
                  <a:srgbClr val="1A1A1A"/>
                </a:solidFill>
              </a:rPr>
              <a:t>день</a:t>
            </a:r>
            <a:endParaRPr sz="2400" b="1" dirty="0">
              <a:solidFill>
                <a:srgbClr val="1A1A1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0" y="4937760"/>
            <a:ext cx="57607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2400" b="1" dirty="0" err="1">
                <a:solidFill>
                  <a:srgbClr val="595959"/>
                </a:solidFill>
              </a:rPr>
              <a:t>Надёжность</a:t>
            </a:r>
            <a:r>
              <a:rPr sz="2400" b="1" dirty="0">
                <a:solidFill>
                  <a:srgbClr val="595959"/>
                </a:solidFill>
              </a:rPr>
              <a:t>: </a:t>
            </a:r>
            <a:r>
              <a:rPr sz="2400" b="1" dirty="0" err="1">
                <a:solidFill>
                  <a:srgbClr val="595959"/>
                </a:solidFill>
              </a:rPr>
              <a:t>Groq</a:t>
            </a:r>
            <a:r>
              <a:rPr sz="2400" b="1" dirty="0">
                <a:solidFill>
                  <a:srgbClr val="595959"/>
                </a:solidFill>
              </a:rPr>
              <a:t> → DeepSeek → Mistral</a:t>
            </a: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0C45DD95-D325-5FAE-D5E0-8636AFAB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 err="1"/>
              <a:t>Веб-интерфейс</a:t>
            </a:r>
            <a:r>
              <a:rPr dirty="0"/>
              <a:t>: </a:t>
            </a:r>
            <a:r>
              <a:rPr dirty="0" err="1"/>
              <a:t>аналитика</a:t>
            </a:r>
            <a:r>
              <a:rPr dirty="0"/>
              <a:t> </a:t>
            </a:r>
            <a:r>
              <a:rPr dirty="0" err="1"/>
              <a:t>рынка</a:t>
            </a:r>
            <a:r>
              <a:rPr dirty="0"/>
              <a:t> (</a:t>
            </a:r>
            <a:r>
              <a:rPr dirty="0" err="1"/>
              <a:t>тепловая</a:t>
            </a:r>
            <a:r>
              <a:rPr dirty="0"/>
              <a:t> </a:t>
            </a:r>
            <a:r>
              <a:rPr dirty="0" err="1"/>
              <a:t>карта</a:t>
            </a:r>
            <a:r>
              <a:rPr dirty="0"/>
              <a:t>)</a:t>
            </a:r>
          </a:p>
        </p:txBody>
      </p:sp>
      <p:pic>
        <p:nvPicPr>
          <p:cNvPr id="3" name="Picture 2" descr="05_analytics_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312" y="1267821"/>
            <a:ext cx="5135873" cy="534273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AA55BF-F6D7-2C41-A127-F110FD525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dirty="0" err="1"/>
              <a:t>Веб-интерфейс</a:t>
            </a:r>
            <a:r>
              <a:rPr dirty="0"/>
              <a:t>: </a:t>
            </a:r>
            <a:r>
              <a:rPr dirty="0" err="1"/>
              <a:t>прогноз</a:t>
            </a:r>
            <a:r>
              <a:rPr dirty="0"/>
              <a:t> </a:t>
            </a:r>
            <a:r>
              <a:rPr dirty="0" err="1"/>
              <a:t>спроса</a:t>
            </a:r>
            <a:r>
              <a:rPr dirty="0"/>
              <a:t> с </a:t>
            </a:r>
            <a:r>
              <a:rPr dirty="0" err="1"/>
              <a:t>интервалом</a:t>
            </a:r>
            <a:endParaRPr dirty="0"/>
          </a:p>
        </p:txBody>
      </p:sp>
      <p:pic>
        <p:nvPicPr>
          <p:cNvPr id="3" name="Picture 2" descr="03_forecast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804" y="1262497"/>
            <a:ext cx="7124391" cy="5516456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0AC1D5-EFDC-8CC6-5AC9-4B936EB5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10</a:t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Веб-интерфейс</a:t>
            </a:r>
            <a:r>
              <a:rPr dirty="0"/>
              <a:t>: </a:t>
            </a:r>
            <a:r>
              <a:rPr dirty="0" err="1"/>
              <a:t>региональная</a:t>
            </a:r>
            <a:r>
              <a:rPr dirty="0"/>
              <a:t> </a:t>
            </a:r>
            <a:r>
              <a:rPr dirty="0" err="1"/>
              <a:t>карта</a:t>
            </a:r>
            <a:endParaRPr dirty="0"/>
          </a:p>
        </p:txBody>
      </p:sp>
      <p:pic>
        <p:nvPicPr>
          <p:cNvPr id="3" name="Picture 2" descr="02_map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316" y="1226384"/>
            <a:ext cx="5057368" cy="5552569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5BF692-0E3E-E813-E68A-0A4E24ADC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Заключение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1000"/>
              </a:spcAft>
              <a:buNone/>
            </a:pPr>
            <a:r>
              <a:rPr sz="2400" b="1" dirty="0" err="1">
                <a:solidFill>
                  <a:srgbClr val="1F4E79"/>
                </a:solidFill>
              </a:rPr>
              <a:t>Все</a:t>
            </a:r>
            <a:r>
              <a:rPr sz="2400" b="1" dirty="0">
                <a:solidFill>
                  <a:srgbClr val="1F4E79"/>
                </a:solidFill>
              </a:rPr>
              <a:t> 5 </a:t>
            </a:r>
            <a:r>
              <a:rPr sz="2400" b="1" dirty="0" err="1">
                <a:solidFill>
                  <a:srgbClr val="1F4E79"/>
                </a:solidFill>
              </a:rPr>
              <a:t>задач</a:t>
            </a:r>
            <a:r>
              <a:rPr sz="2400" b="1" dirty="0">
                <a:solidFill>
                  <a:srgbClr val="1F4E79"/>
                </a:solidFill>
              </a:rPr>
              <a:t> </a:t>
            </a:r>
            <a:r>
              <a:rPr sz="2400" b="1" dirty="0" err="1">
                <a:solidFill>
                  <a:srgbClr val="1F4E79"/>
                </a:solidFill>
              </a:rPr>
              <a:t>решены</a:t>
            </a:r>
            <a:endParaRPr sz="2400" b="1" dirty="0">
              <a:solidFill>
                <a:srgbClr val="1F4E79"/>
              </a:solidFill>
            </a:endParaRPr>
          </a:p>
          <a:p>
            <a:pPr>
              <a:spcAft>
                <a:spcPts val="900"/>
              </a:spcAft>
              <a:buNone/>
            </a:pPr>
            <a:r>
              <a:rPr sz="2000" b="0" dirty="0">
                <a:solidFill>
                  <a:srgbClr val="1A1A1A"/>
                </a:solidFill>
              </a:rPr>
              <a:t>✓ 1–2. </a:t>
            </a:r>
            <a:r>
              <a:rPr sz="2000" b="0" dirty="0" err="1">
                <a:solidFill>
                  <a:srgbClr val="1A1A1A"/>
                </a:solidFill>
              </a:rPr>
              <a:t>Исследована</a:t>
            </a:r>
            <a:r>
              <a:rPr sz="2000" b="0" dirty="0">
                <a:solidFill>
                  <a:srgbClr val="1A1A1A"/>
                </a:solidFill>
              </a:rPr>
              <a:t> </a:t>
            </a:r>
            <a:r>
              <a:rPr sz="2000" b="0" dirty="0" err="1">
                <a:solidFill>
                  <a:srgbClr val="1A1A1A"/>
                </a:solidFill>
              </a:rPr>
              <a:t>область</a:t>
            </a:r>
            <a:r>
              <a:rPr sz="2000" b="0" dirty="0">
                <a:solidFill>
                  <a:srgbClr val="1A1A1A"/>
                </a:solidFill>
              </a:rPr>
              <a:t>, </a:t>
            </a:r>
            <a:r>
              <a:rPr sz="2000" b="0" dirty="0" err="1">
                <a:solidFill>
                  <a:srgbClr val="1A1A1A"/>
                </a:solidFill>
              </a:rPr>
              <a:t>обоснован</a:t>
            </a:r>
            <a:r>
              <a:rPr sz="2000" b="0" dirty="0">
                <a:solidFill>
                  <a:srgbClr val="1A1A1A"/>
                </a:solidFill>
              </a:rPr>
              <a:t> и </a:t>
            </a:r>
            <a:r>
              <a:rPr sz="2000" b="0" dirty="0" err="1">
                <a:solidFill>
                  <a:srgbClr val="1A1A1A"/>
                </a:solidFill>
              </a:rPr>
              <a:t>собран</a:t>
            </a:r>
            <a:r>
              <a:rPr sz="2000" b="0" dirty="0">
                <a:solidFill>
                  <a:srgbClr val="1A1A1A"/>
                </a:solidFill>
              </a:rPr>
              <a:t> </a:t>
            </a:r>
            <a:r>
              <a:rPr sz="2000" b="0" dirty="0" err="1">
                <a:solidFill>
                  <a:srgbClr val="1A1A1A"/>
                </a:solidFill>
              </a:rPr>
              <a:t>технологический</a:t>
            </a:r>
            <a:r>
              <a:rPr sz="2000" b="0" dirty="0">
                <a:solidFill>
                  <a:srgbClr val="1A1A1A"/>
                </a:solidFill>
              </a:rPr>
              <a:t> </a:t>
            </a:r>
            <a:r>
              <a:rPr sz="2000" b="0" dirty="0" err="1">
                <a:solidFill>
                  <a:srgbClr val="1A1A1A"/>
                </a:solidFill>
              </a:rPr>
              <a:t>стек</a:t>
            </a:r>
            <a:endParaRPr sz="2000" b="0" dirty="0">
              <a:solidFill>
                <a:srgbClr val="1A1A1A"/>
              </a:solidFill>
            </a:endParaRPr>
          </a:p>
          <a:p>
            <a:pPr>
              <a:spcAft>
                <a:spcPts val="900"/>
              </a:spcAft>
              <a:buNone/>
            </a:pPr>
            <a:r>
              <a:rPr sz="2000" b="0" dirty="0">
                <a:solidFill>
                  <a:srgbClr val="1A1A1A"/>
                </a:solidFill>
              </a:rPr>
              <a:t>✓ 3. </a:t>
            </a:r>
            <a:r>
              <a:rPr sz="2000" b="0" dirty="0" err="1">
                <a:solidFill>
                  <a:srgbClr val="1A1A1A"/>
                </a:solidFill>
              </a:rPr>
              <a:t>Подсистема</a:t>
            </a:r>
            <a:r>
              <a:rPr sz="2000" b="0" dirty="0">
                <a:solidFill>
                  <a:srgbClr val="1A1A1A"/>
                </a:solidFill>
              </a:rPr>
              <a:t> </a:t>
            </a:r>
            <a:r>
              <a:rPr sz="2000" b="0" dirty="0" err="1">
                <a:solidFill>
                  <a:srgbClr val="1A1A1A"/>
                </a:solidFill>
              </a:rPr>
              <a:t>сбора</a:t>
            </a:r>
            <a:r>
              <a:rPr sz="2000" b="0" dirty="0">
                <a:solidFill>
                  <a:srgbClr val="1A1A1A"/>
                </a:solidFill>
              </a:rPr>
              <a:t>: 1428 </a:t>
            </a:r>
            <a:r>
              <a:rPr sz="2000" b="0" dirty="0" err="1">
                <a:solidFill>
                  <a:srgbClr val="1A1A1A"/>
                </a:solidFill>
              </a:rPr>
              <a:t>объектов</a:t>
            </a:r>
            <a:r>
              <a:rPr sz="2000" b="0" dirty="0">
                <a:solidFill>
                  <a:srgbClr val="1A1A1A"/>
                </a:solidFill>
              </a:rPr>
              <a:t>, 450+ </a:t>
            </a:r>
            <a:r>
              <a:rPr sz="2000" b="0" dirty="0" err="1">
                <a:solidFill>
                  <a:srgbClr val="1A1A1A"/>
                </a:solidFill>
              </a:rPr>
              <a:t>событий</a:t>
            </a:r>
            <a:r>
              <a:rPr sz="2000" b="0" dirty="0">
                <a:solidFill>
                  <a:srgbClr val="1A1A1A"/>
                </a:solidFill>
              </a:rPr>
              <a:t> </a:t>
            </a:r>
            <a:r>
              <a:rPr sz="2000" b="0" dirty="0" err="1">
                <a:solidFill>
                  <a:srgbClr val="1A1A1A"/>
                </a:solidFill>
              </a:rPr>
              <a:t>из</a:t>
            </a:r>
            <a:r>
              <a:rPr sz="2000" b="0" dirty="0">
                <a:solidFill>
                  <a:srgbClr val="1A1A1A"/>
                </a:solidFill>
              </a:rPr>
              <a:t> 11 </a:t>
            </a:r>
            <a:r>
              <a:rPr sz="2000" b="0" dirty="0" err="1">
                <a:solidFill>
                  <a:srgbClr val="1A1A1A"/>
                </a:solidFill>
              </a:rPr>
              <a:t>источников</a:t>
            </a:r>
            <a:endParaRPr sz="2000" b="0" dirty="0">
              <a:solidFill>
                <a:srgbClr val="1A1A1A"/>
              </a:solidFill>
            </a:endParaRPr>
          </a:p>
          <a:p>
            <a:pPr>
              <a:spcAft>
                <a:spcPts val="900"/>
              </a:spcAft>
              <a:buNone/>
            </a:pPr>
            <a:r>
              <a:rPr sz="2000" b="0" dirty="0">
                <a:solidFill>
                  <a:srgbClr val="1A1A1A"/>
                </a:solidFill>
              </a:rPr>
              <a:t>✓ 4. </a:t>
            </a:r>
            <a:r>
              <a:rPr sz="2000" b="0" dirty="0" err="1">
                <a:solidFill>
                  <a:srgbClr val="1A1A1A"/>
                </a:solidFill>
              </a:rPr>
              <a:t>Ансамблевый</a:t>
            </a:r>
            <a:r>
              <a:rPr sz="2000" b="0" dirty="0">
                <a:solidFill>
                  <a:srgbClr val="1A1A1A"/>
                </a:solidFill>
              </a:rPr>
              <a:t> </a:t>
            </a:r>
            <a:r>
              <a:rPr sz="2000" b="0" dirty="0" err="1">
                <a:solidFill>
                  <a:srgbClr val="1A1A1A"/>
                </a:solidFill>
              </a:rPr>
              <a:t>метод</a:t>
            </a:r>
            <a:r>
              <a:rPr sz="2000" b="0" dirty="0">
                <a:solidFill>
                  <a:srgbClr val="1A1A1A"/>
                </a:solidFill>
              </a:rPr>
              <a:t>: RMSE 6,46 </a:t>
            </a:r>
            <a:r>
              <a:rPr sz="2000" b="0" dirty="0" err="1">
                <a:solidFill>
                  <a:srgbClr val="1A1A1A"/>
                </a:solidFill>
              </a:rPr>
              <a:t>п.п</a:t>
            </a:r>
            <a:r>
              <a:rPr sz="2000" b="0" dirty="0">
                <a:solidFill>
                  <a:srgbClr val="1A1A1A"/>
                </a:solidFill>
              </a:rPr>
              <a:t>., </a:t>
            </a:r>
            <a:r>
              <a:rPr sz="2000" b="0" dirty="0" err="1">
                <a:solidFill>
                  <a:srgbClr val="1A1A1A"/>
                </a:solidFill>
              </a:rPr>
              <a:t>снижает</a:t>
            </a:r>
            <a:r>
              <a:rPr sz="2000" b="0" dirty="0">
                <a:solidFill>
                  <a:srgbClr val="1A1A1A"/>
                </a:solidFill>
              </a:rPr>
              <a:t> </a:t>
            </a:r>
            <a:r>
              <a:rPr sz="2000" b="0" dirty="0" err="1">
                <a:solidFill>
                  <a:srgbClr val="1A1A1A"/>
                </a:solidFill>
              </a:rPr>
              <a:t>разброс</a:t>
            </a:r>
            <a:r>
              <a:rPr sz="2000" b="0" dirty="0">
                <a:solidFill>
                  <a:srgbClr val="1A1A1A"/>
                </a:solidFill>
              </a:rPr>
              <a:t> </a:t>
            </a:r>
            <a:r>
              <a:rPr sz="2000" b="0" dirty="0" err="1">
                <a:solidFill>
                  <a:srgbClr val="1A1A1A"/>
                </a:solidFill>
              </a:rPr>
              <a:t>ошибки</a:t>
            </a:r>
            <a:endParaRPr sz="2000" b="0" dirty="0">
              <a:solidFill>
                <a:srgbClr val="1A1A1A"/>
              </a:solidFill>
            </a:endParaRPr>
          </a:p>
          <a:p>
            <a:pPr>
              <a:spcAft>
                <a:spcPts val="900"/>
              </a:spcAft>
              <a:buNone/>
            </a:pPr>
            <a:r>
              <a:rPr sz="2000" b="0" dirty="0">
                <a:solidFill>
                  <a:srgbClr val="1A1A1A"/>
                </a:solidFill>
              </a:rPr>
              <a:t>✓ 5. </a:t>
            </a:r>
            <a:r>
              <a:rPr sz="2000" b="0" dirty="0" err="1">
                <a:solidFill>
                  <a:srgbClr val="1A1A1A"/>
                </a:solidFill>
              </a:rPr>
              <a:t>Архитектура</a:t>
            </a:r>
            <a:r>
              <a:rPr sz="2000" b="0" dirty="0">
                <a:solidFill>
                  <a:srgbClr val="1A1A1A"/>
                </a:solidFill>
              </a:rPr>
              <a:t>, AI-</a:t>
            </a:r>
            <a:r>
              <a:rPr sz="2000" b="0" dirty="0" err="1">
                <a:solidFill>
                  <a:srgbClr val="1A1A1A"/>
                </a:solidFill>
              </a:rPr>
              <a:t>агент</a:t>
            </a:r>
            <a:r>
              <a:rPr sz="2000" b="0" dirty="0">
                <a:solidFill>
                  <a:srgbClr val="1A1A1A"/>
                </a:solidFill>
              </a:rPr>
              <a:t> и </a:t>
            </a:r>
            <a:r>
              <a:rPr sz="2000" b="0" dirty="0" err="1">
                <a:solidFill>
                  <a:srgbClr val="1A1A1A"/>
                </a:solidFill>
              </a:rPr>
              <a:t>веб-интерфейс</a:t>
            </a:r>
            <a:r>
              <a:rPr sz="2000" b="0" dirty="0">
                <a:solidFill>
                  <a:srgbClr val="1A1A1A"/>
                </a:solidFill>
              </a:rPr>
              <a:t> </a:t>
            </a:r>
            <a:r>
              <a:rPr sz="2000" b="0" dirty="0" err="1">
                <a:solidFill>
                  <a:srgbClr val="1A1A1A"/>
                </a:solidFill>
              </a:rPr>
              <a:t>для</a:t>
            </a:r>
            <a:r>
              <a:rPr sz="2000" b="0" dirty="0">
                <a:solidFill>
                  <a:srgbClr val="1A1A1A"/>
                </a:solidFill>
              </a:rPr>
              <a:t> </a:t>
            </a:r>
            <a:r>
              <a:rPr sz="2000" b="0" dirty="0" err="1">
                <a:solidFill>
                  <a:srgbClr val="1A1A1A"/>
                </a:solidFill>
              </a:rPr>
              <a:t>трёх</a:t>
            </a:r>
            <a:r>
              <a:rPr sz="2000" b="0" dirty="0">
                <a:solidFill>
                  <a:srgbClr val="1A1A1A"/>
                </a:solidFill>
              </a:rPr>
              <a:t> </a:t>
            </a:r>
            <a:r>
              <a:rPr sz="2000" b="0" dirty="0" err="1">
                <a:solidFill>
                  <a:srgbClr val="1A1A1A"/>
                </a:solidFill>
              </a:rPr>
              <a:t>сегментов</a:t>
            </a:r>
            <a:endParaRPr sz="2000" b="0" dirty="0">
              <a:solidFill>
                <a:srgbClr val="1A1A1A"/>
              </a:solidFill>
            </a:endParaRPr>
          </a:p>
          <a:p>
            <a:pPr>
              <a:spcAft>
                <a:spcPts val="600"/>
              </a:spcAft>
              <a:buNone/>
            </a:pPr>
            <a:r>
              <a:rPr sz="1800" b="0" dirty="0" err="1">
                <a:solidFill>
                  <a:srgbClr val="595959"/>
                </a:solidFill>
              </a:rPr>
              <a:t>Качество</a:t>
            </a:r>
            <a:r>
              <a:rPr sz="1800" b="0" dirty="0">
                <a:solidFill>
                  <a:srgbClr val="595959"/>
                </a:solidFill>
              </a:rPr>
              <a:t>: 200+ </a:t>
            </a:r>
            <a:r>
              <a:rPr sz="1800" b="0" dirty="0" err="1">
                <a:solidFill>
                  <a:srgbClr val="595959"/>
                </a:solidFill>
              </a:rPr>
              <a:t>модульных</a:t>
            </a:r>
            <a:r>
              <a:rPr sz="1800" b="0" dirty="0">
                <a:solidFill>
                  <a:srgbClr val="595959"/>
                </a:solidFill>
              </a:rPr>
              <a:t> </a:t>
            </a:r>
            <a:r>
              <a:rPr sz="1800" b="0" dirty="0" err="1">
                <a:solidFill>
                  <a:srgbClr val="595959"/>
                </a:solidFill>
              </a:rPr>
              <a:t>тестов</a:t>
            </a:r>
            <a:r>
              <a:rPr lang="en-US" sz="1800" dirty="0">
                <a:solidFill>
                  <a:srgbClr val="595959"/>
                </a:solidFill>
              </a:rPr>
              <a:t>, </a:t>
            </a:r>
            <a:r>
              <a:rPr sz="1800" b="0" dirty="0">
                <a:solidFill>
                  <a:srgbClr val="595959"/>
                </a:solidFill>
              </a:rPr>
              <a:t>9 </a:t>
            </a:r>
            <a:r>
              <a:rPr sz="1800" b="0" dirty="0" err="1">
                <a:solidFill>
                  <a:srgbClr val="595959"/>
                </a:solidFill>
              </a:rPr>
              <a:t>сквозных</a:t>
            </a:r>
            <a:r>
              <a:rPr sz="1800" b="0" dirty="0">
                <a:solidFill>
                  <a:srgbClr val="595959"/>
                </a:solidFill>
              </a:rPr>
              <a:t> </a:t>
            </a:r>
            <a:r>
              <a:rPr sz="1800" b="0" dirty="0" err="1">
                <a:solidFill>
                  <a:srgbClr val="595959"/>
                </a:solidFill>
              </a:rPr>
              <a:t>сценариев</a:t>
            </a:r>
            <a:r>
              <a:rPr lang="en-US" sz="1800" b="0" dirty="0">
                <a:solidFill>
                  <a:srgbClr val="595959"/>
                </a:solidFill>
              </a:rPr>
              <a:t>, </a:t>
            </a:r>
            <a:r>
              <a:rPr sz="1800" b="0" dirty="0" err="1">
                <a:solidFill>
                  <a:srgbClr val="595959"/>
                </a:solidFill>
              </a:rPr>
              <a:t>стресс-тест</a:t>
            </a:r>
            <a:r>
              <a:rPr sz="1800" b="0" dirty="0">
                <a:solidFill>
                  <a:srgbClr val="595959"/>
                </a:solidFill>
              </a:rPr>
              <a:t> </a:t>
            </a:r>
            <a:r>
              <a:rPr sz="1800" b="0" dirty="0" err="1">
                <a:solidFill>
                  <a:srgbClr val="595959"/>
                </a:solidFill>
              </a:rPr>
              <a:t>агента</a:t>
            </a:r>
            <a:endParaRPr sz="1800" b="0" dirty="0">
              <a:solidFill>
                <a:srgbClr val="595959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algn="ctr">
              <a:spcAft>
                <a:spcPts val="1200"/>
              </a:spcAft>
              <a:buNone/>
            </a:pPr>
            <a:r>
              <a:rPr sz="2200" b="1" dirty="0" err="1">
                <a:solidFill>
                  <a:srgbClr val="1F4E79"/>
                </a:solidFill>
              </a:rPr>
              <a:t>Работает</a:t>
            </a:r>
            <a:r>
              <a:rPr sz="2200" b="1" dirty="0">
                <a:solidFill>
                  <a:srgbClr val="1F4E79"/>
                </a:solidFill>
              </a:rPr>
              <a:t> </a:t>
            </a:r>
            <a:r>
              <a:rPr sz="2200" b="1" dirty="0" err="1">
                <a:solidFill>
                  <a:srgbClr val="1F4E79"/>
                </a:solidFill>
              </a:rPr>
              <a:t>на</a:t>
            </a:r>
            <a:r>
              <a:rPr sz="2200" b="1" dirty="0">
                <a:solidFill>
                  <a:srgbClr val="1F4E79"/>
                </a:solidFill>
              </a:rPr>
              <a:t> </a:t>
            </a:r>
            <a:r>
              <a:rPr sz="2200" b="1" dirty="0" err="1">
                <a:solidFill>
                  <a:srgbClr val="1F4E79"/>
                </a:solidFill>
              </a:rPr>
              <a:t>проде</a:t>
            </a:r>
            <a:endParaRPr lang="ru-RU" sz="2200" b="1" dirty="0">
              <a:solidFill>
                <a:srgbClr val="1F4E79"/>
              </a:solidFill>
            </a:endParaRPr>
          </a:p>
          <a:p>
            <a:pPr algn="ctr">
              <a:spcAft>
                <a:spcPts val="1200"/>
              </a:spcAft>
              <a:buNone/>
            </a:pPr>
            <a:endParaRPr lang="ru-RU" sz="2200" b="1" dirty="0">
              <a:solidFill>
                <a:srgbClr val="1F4E79"/>
              </a:solidFill>
            </a:endParaRPr>
          </a:p>
          <a:p>
            <a:pPr algn="ctr">
              <a:spcAft>
                <a:spcPts val="1200"/>
              </a:spcAft>
              <a:buNone/>
            </a:pPr>
            <a:endParaRPr lang="ru-RU" sz="2200" b="1" dirty="0">
              <a:solidFill>
                <a:srgbClr val="1F4E79"/>
              </a:solidFill>
            </a:endParaRPr>
          </a:p>
          <a:p>
            <a:pPr algn="ctr">
              <a:spcAft>
                <a:spcPts val="1200"/>
              </a:spcAft>
              <a:buNone/>
            </a:pPr>
            <a:endParaRPr sz="2200" b="1" dirty="0">
              <a:solidFill>
                <a:srgbClr val="1F4E79"/>
              </a:solidFill>
            </a:endParaRPr>
          </a:p>
          <a:p>
            <a:pPr algn="ctr">
              <a:spcAft>
                <a:spcPts val="1000"/>
              </a:spcAft>
              <a:buNone/>
            </a:pPr>
            <a:r>
              <a:rPr lang="ru-RU" sz="1800" dirty="0">
                <a:solidFill>
                  <a:srgbClr val="595959"/>
                </a:solidFill>
              </a:rPr>
              <a:t>Вставлю </a:t>
            </a:r>
            <a:r>
              <a:rPr lang="en-US" sz="1800" dirty="0" err="1">
                <a:solidFill>
                  <a:srgbClr val="595959"/>
                </a:solidFill>
              </a:rPr>
              <a:t>qr</a:t>
            </a:r>
            <a:r>
              <a:rPr lang="en-US" sz="1800" dirty="0">
                <a:solidFill>
                  <a:srgbClr val="595959"/>
                </a:solidFill>
              </a:rPr>
              <a:t> </a:t>
            </a:r>
            <a:r>
              <a:rPr lang="ru-RU" sz="1800" dirty="0">
                <a:solidFill>
                  <a:srgbClr val="595959"/>
                </a:solidFill>
              </a:rPr>
              <a:t>на веб приложение и диск с фотками</a:t>
            </a:r>
            <a:endParaRPr lang="en-US" sz="1800" b="0" dirty="0">
              <a:solidFill>
                <a:srgbClr val="595959"/>
              </a:solidFill>
            </a:endParaRPr>
          </a:p>
          <a:p>
            <a:pPr algn="ctr">
              <a:spcAft>
                <a:spcPts val="1000"/>
              </a:spcAft>
              <a:buNone/>
            </a:pPr>
            <a:endParaRPr lang="en-US" sz="1800" dirty="0">
              <a:solidFill>
                <a:srgbClr val="595959"/>
              </a:solidFill>
            </a:endParaRPr>
          </a:p>
          <a:p>
            <a:pPr algn="ctr">
              <a:spcAft>
                <a:spcPts val="1000"/>
              </a:spcAft>
              <a:buNone/>
            </a:pPr>
            <a:endParaRPr lang="en-US" sz="1800" b="0" dirty="0">
              <a:solidFill>
                <a:srgbClr val="595959"/>
              </a:solidFill>
            </a:endParaRPr>
          </a:p>
          <a:p>
            <a:pPr algn="ctr">
              <a:spcAft>
                <a:spcPts val="1000"/>
              </a:spcAft>
              <a:buNone/>
            </a:pPr>
            <a:endParaRPr sz="1800" b="0" dirty="0">
              <a:solidFill>
                <a:srgbClr val="595959"/>
              </a:solidFill>
            </a:endParaRPr>
          </a:p>
          <a:p>
            <a:pPr algn="ctr">
              <a:spcAft>
                <a:spcPts val="600"/>
              </a:spcAft>
              <a:buNone/>
            </a:pPr>
            <a:r>
              <a:rPr sz="1800" b="0" dirty="0" err="1">
                <a:solidFill>
                  <a:srgbClr val="1A1A1A"/>
                </a:solidFill>
              </a:rPr>
              <a:t>Готова</a:t>
            </a:r>
            <a:r>
              <a:rPr sz="1800" b="0" dirty="0">
                <a:solidFill>
                  <a:srgbClr val="1A1A1A"/>
                </a:solidFill>
              </a:rPr>
              <a:t> к </a:t>
            </a:r>
            <a:r>
              <a:rPr sz="1800" b="0" dirty="0" err="1">
                <a:solidFill>
                  <a:srgbClr val="1A1A1A"/>
                </a:solidFill>
              </a:rPr>
              <a:t>пилоту</a:t>
            </a:r>
            <a:endParaRPr sz="1800" b="0" dirty="0">
              <a:solidFill>
                <a:srgbClr val="1A1A1A"/>
              </a:solidFill>
            </a:endParaRPr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E5B560D9-6031-04E4-E94C-095CF4547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12</a:t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Перспективы</a:t>
            </a:r>
            <a:r>
              <a:rPr dirty="0"/>
              <a:t> </a:t>
            </a:r>
            <a:r>
              <a:rPr dirty="0" err="1"/>
              <a:t>развития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2400" b="0" dirty="0" err="1">
                <a:solidFill>
                  <a:srgbClr val="1A1A1A"/>
                </a:solidFill>
              </a:rPr>
              <a:t>Нейросетевые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модели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рядов</a:t>
            </a:r>
            <a:r>
              <a:rPr sz="2400" b="0" dirty="0">
                <a:solidFill>
                  <a:srgbClr val="1A1A1A"/>
                </a:solidFill>
              </a:rPr>
              <a:t>: N-BEATS, Temporal Fusion Transformer</a:t>
            </a:r>
          </a:p>
          <a:p>
            <a:pPr>
              <a:spcAft>
                <a:spcPts val="600"/>
              </a:spcAft>
            </a:pPr>
            <a:r>
              <a:rPr sz="2400" b="0" dirty="0" err="1">
                <a:solidFill>
                  <a:srgbClr val="1A1A1A"/>
                </a:solidFill>
              </a:rPr>
              <a:t>Масштабирование</a:t>
            </a:r>
            <a:r>
              <a:rPr sz="2400" b="0" dirty="0">
                <a:solidFill>
                  <a:srgbClr val="1A1A1A"/>
                </a:solidFill>
              </a:rPr>
              <a:t>: </a:t>
            </a:r>
            <a:r>
              <a:rPr sz="2400" b="0" dirty="0" err="1">
                <a:solidFill>
                  <a:srgbClr val="1A1A1A"/>
                </a:solidFill>
              </a:rPr>
              <a:t>Бурятия</a:t>
            </a:r>
            <a:r>
              <a:rPr sz="2400" b="0" dirty="0">
                <a:solidFill>
                  <a:srgbClr val="1A1A1A"/>
                </a:solidFill>
              </a:rPr>
              <a:t>, </a:t>
            </a:r>
            <a:r>
              <a:rPr sz="2400" b="0" dirty="0" err="1">
                <a:solidFill>
                  <a:srgbClr val="1A1A1A"/>
                </a:solidFill>
              </a:rPr>
              <a:t>Забайкальский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край</a:t>
            </a:r>
            <a:endParaRPr sz="2400" b="0" dirty="0">
              <a:solidFill>
                <a:srgbClr val="1A1A1A"/>
              </a:solidFill>
            </a:endParaRPr>
          </a:p>
          <a:p>
            <a:pPr>
              <a:spcAft>
                <a:spcPts val="600"/>
              </a:spcAft>
            </a:pPr>
            <a:r>
              <a:rPr sz="2400" b="0" dirty="0" err="1">
                <a:solidFill>
                  <a:srgbClr val="1A1A1A"/>
                </a:solidFill>
              </a:rPr>
              <a:t>Юзабилити-тестирование</a:t>
            </a:r>
            <a:r>
              <a:rPr sz="2400" b="0" dirty="0">
                <a:solidFill>
                  <a:srgbClr val="1A1A1A"/>
                </a:solidFill>
              </a:rPr>
              <a:t> с </a:t>
            </a:r>
            <a:r>
              <a:rPr sz="2400" b="0" dirty="0" err="1">
                <a:solidFill>
                  <a:srgbClr val="1A1A1A"/>
                </a:solidFill>
              </a:rPr>
              <a:t>представителями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бизнеса</a:t>
            </a:r>
            <a:endParaRPr sz="2400" b="0" dirty="0">
              <a:solidFill>
                <a:srgbClr val="1A1A1A"/>
              </a:solidFill>
            </a:endParaRPr>
          </a:p>
          <a:p>
            <a:pPr>
              <a:spcAft>
                <a:spcPts val="600"/>
              </a:spcAft>
            </a:pPr>
            <a:r>
              <a:rPr sz="2400" b="0" dirty="0" err="1">
                <a:solidFill>
                  <a:srgbClr val="1A1A1A"/>
                </a:solidFill>
              </a:rPr>
              <a:t>Калибровка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прокси-метрик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до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точных</a:t>
            </a:r>
            <a:r>
              <a:rPr sz="2400" b="0" dirty="0">
                <a:solidFill>
                  <a:srgbClr val="1A1A1A"/>
                </a:solidFill>
              </a:rPr>
              <a:t> — </a:t>
            </a:r>
            <a:r>
              <a:rPr sz="2400" b="0" dirty="0" err="1">
                <a:solidFill>
                  <a:srgbClr val="1A1A1A"/>
                </a:solidFill>
              </a:rPr>
              <a:t>пилот</a:t>
            </a:r>
            <a:r>
              <a:rPr sz="2400" b="0" dirty="0">
                <a:solidFill>
                  <a:srgbClr val="1A1A1A"/>
                </a:solidFill>
              </a:rPr>
              <a:t> с </a:t>
            </a:r>
            <a:r>
              <a:rPr sz="2400" b="0" dirty="0" err="1">
                <a:solidFill>
                  <a:srgbClr val="1A1A1A"/>
                </a:solidFill>
              </a:rPr>
              <a:t>системой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управления</a:t>
            </a:r>
            <a:r>
              <a:rPr sz="2400" b="0" dirty="0">
                <a:solidFill>
                  <a:srgbClr val="1A1A1A"/>
                </a:solidFill>
              </a:rPr>
              <a:t> </a:t>
            </a:r>
            <a:r>
              <a:rPr sz="2400" b="0" dirty="0" err="1">
                <a:solidFill>
                  <a:srgbClr val="1A1A1A"/>
                </a:solidFill>
              </a:rPr>
              <a:t>отелем</a:t>
            </a:r>
            <a:endParaRPr sz="2400" b="0" dirty="0">
              <a:solidFill>
                <a:srgbClr val="1A1A1A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C8ACA4-5B2B-B389-E2C2-F1328F61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13</a:t>
            </a:fld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Демонстрация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BF1E14-6091-87C7-DA03-400D8DDD1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0558" y="6413828"/>
            <a:ext cx="2743200" cy="365125"/>
          </a:xfrm>
        </p:spPr>
        <p:txBody>
          <a:bodyPr/>
          <a:lstStyle/>
          <a:p>
            <a:fld id="{C9588D18-05BC-4B0A-958B-473CFB08429C}" type="slidenum">
              <a:rPr lang="ru-RU" smtClean="0"/>
              <a:t>14</a:t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0D694-95BC-B30D-A185-3B2E0D758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CCC637-E863-E4A2-0E04-A73207EFBF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Интеллектуальная система прогнозирования заполняемости средств размещения на основе данных туристических агрегаторов и событийной активности в регионе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0DF402-DE43-0C4D-B446-DF1F45FAE4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405" y="5243209"/>
            <a:ext cx="9144000" cy="71185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b="1" dirty="0"/>
              <a:t>Студент</a:t>
            </a:r>
            <a:r>
              <a:rPr lang="ru-RU" dirty="0"/>
              <a:t>: Исполатов Вадим Петрович 14422-ДБ</a:t>
            </a:r>
          </a:p>
          <a:p>
            <a:pPr>
              <a:spcBef>
                <a:spcPts val="0"/>
              </a:spcBef>
            </a:pPr>
            <a:r>
              <a:rPr lang="ru-RU" b="1" dirty="0"/>
              <a:t>Консультант</a:t>
            </a:r>
            <a:r>
              <a:rPr lang="ru-RU" dirty="0"/>
              <a:t>: м</a:t>
            </a:r>
            <a:r>
              <a:rPr lang="en-US" dirty="0"/>
              <a:t>.</a:t>
            </a:r>
            <a:r>
              <a:rPr lang="ru-RU" dirty="0"/>
              <a:t>н</a:t>
            </a:r>
            <a:r>
              <a:rPr lang="en-US" dirty="0"/>
              <a:t>.c.,</a:t>
            </a:r>
            <a:r>
              <a:rPr lang="ru-RU" dirty="0"/>
              <a:t> Пестова Ю</a:t>
            </a:r>
            <a:r>
              <a:rPr lang="en-US" dirty="0"/>
              <a:t>.</a:t>
            </a:r>
            <a:r>
              <a:rPr lang="ru-RU" dirty="0"/>
              <a:t>В</a:t>
            </a:r>
            <a:r>
              <a:rPr lang="en-US" dirty="0"/>
              <a:t>.</a:t>
            </a:r>
            <a:endParaRPr lang="ru-RU" dirty="0"/>
          </a:p>
          <a:p>
            <a:pPr>
              <a:spcBef>
                <a:spcPts val="0"/>
              </a:spcBef>
            </a:pPr>
            <a:r>
              <a:rPr lang="ru-RU" b="1" dirty="0"/>
              <a:t>Научный руководитель</a:t>
            </a:r>
            <a:r>
              <a:rPr lang="ru-RU" dirty="0"/>
              <a:t>: </a:t>
            </a:r>
            <a:r>
              <a:rPr lang="ru-RU" dirty="0" err="1"/>
              <a:t>проф</a:t>
            </a:r>
            <a:r>
              <a:rPr lang="en-US" dirty="0"/>
              <a:t>.</a:t>
            </a:r>
            <a:r>
              <a:rPr lang="ru-RU" dirty="0"/>
              <a:t>, д.т.н., Николайчук О.А.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01B9F3-90B1-D68D-1EAE-30E7C3EE897E}"/>
              </a:ext>
            </a:extLst>
          </p:cNvPr>
          <p:cNvSpPr txBox="1"/>
          <p:nvPr/>
        </p:nvSpPr>
        <p:spPr>
          <a:xfrm>
            <a:off x="524873" y="6257407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RF Dewi Expanded" panose="00000505000000000000"/>
              </a:rPr>
              <a:t>Иркутск 2026</a:t>
            </a:r>
          </a:p>
        </p:txBody>
      </p:sp>
    </p:spTree>
    <p:extLst>
      <p:ext uri="{BB962C8B-B14F-4D97-AF65-F5344CB8AC3E}">
        <p14:creationId xmlns:p14="http://schemas.microsoft.com/office/powerpoint/2010/main" val="22589782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654</Words>
  <Application>Microsoft Office PowerPoint</Application>
  <PresentationFormat>Широкоэкранный</PresentationFormat>
  <Paragraphs>146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DengXian</vt:lpstr>
      <vt:lpstr>DengXian Light</vt:lpstr>
      <vt:lpstr>Aptos</vt:lpstr>
      <vt:lpstr>Arial</vt:lpstr>
      <vt:lpstr>RF Dewi Expanded</vt:lpstr>
      <vt:lpstr>Тема Office</vt:lpstr>
      <vt:lpstr>Интеллектуальная система прогнозирования заполняемости средств размещения на основе данных туристических агрегаторов и событийной активности в регионе</vt:lpstr>
      <vt:lpstr>Цель и задачи работы </vt:lpstr>
      <vt:lpstr>Как устроено решение</vt:lpstr>
      <vt:lpstr>Исследование области и выбор технологий</vt:lpstr>
      <vt:lpstr>Подсистема автоматического сбора данных</vt:lpstr>
      <vt:lpstr>Ансамблевый метод прогнозирования</vt:lpstr>
      <vt:lpstr>Качество прогноза (скользящая проверка, горизонт 14 суток)</vt:lpstr>
      <vt:lpstr>Архитектура системы и интеллектуальный агент</vt:lpstr>
      <vt:lpstr>Веб-интерфейс: аналитика рынка (тепловая карта)</vt:lpstr>
      <vt:lpstr>Веб-интерфейс: прогноз спроса с интервалом</vt:lpstr>
      <vt:lpstr>Веб-интерфейс: региональная карта</vt:lpstr>
      <vt:lpstr>Заключение</vt:lpstr>
      <vt:lpstr>Перспективы развития</vt:lpstr>
      <vt:lpstr>Демонстрация работы системы</vt:lpstr>
      <vt:lpstr>Интеллектуальная система прогнозирования заполняемости средств размещения на основе данных туристических агрегаторов и событийной активности в регионе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Yana Ugorskaya</dc:creator>
  <cp:lastModifiedBy>Admin</cp:lastModifiedBy>
  <cp:revision>56</cp:revision>
  <dcterms:created xsi:type="dcterms:W3CDTF">2026-03-28T01:42:32Z</dcterms:created>
  <dcterms:modified xsi:type="dcterms:W3CDTF">2026-06-02T05:18:54Z</dcterms:modified>
</cp:coreProperties>
</file>