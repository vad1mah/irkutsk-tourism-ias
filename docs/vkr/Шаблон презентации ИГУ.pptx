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5" r:id="rId3"/>
    <p:sldId id="266" r:id="rId4"/>
    <p:sldId id="259" r:id="rId5"/>
    <p:sldId id="262" r:id="rId6"/>
    <p:sldId id="263" r:id="rId7"/>
    <p:sldId id="267" r:id="rId8"/>
    <p:sldId id="26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>
        <p:scale>
          <a:sx n="75" d="100"/>
          <a:sy n="75" d="100"/>
        </p:scale>
        <p:origin x="72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7166D-7042-4F77-B239-E735776E0D3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57829-166E-46DB-8DB8-7EC2789CE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348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0B51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4A145-3478-37B8-C711-92DFAFB9E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4660"/>
            <a:ext cx="9144000" cy="2063059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bg1"/>
                </a:solidFill>
                <a:latin typeface="RF Dewi Expanded" panose="0000050500000000000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0C948D-8831-7C41-FEDD-2CFE41423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5239" y="5452041"/>
            <a:ext cx="9144000" cy="493295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F Dewi Expanded" panose="0000050500000000000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8251AD1D-CD4E-82E5-CEF4-D46AAE9324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20" y="441925"/>
            <a:ext cx="4098290" cy="102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3A60BBA7-E934-250B-24E7-E0C8143B77CC}"/>
              </a:ext>
            </a:extLst>
          </p:cNvPr>
          <p:cNvPicPr/>
          <p:nvPr userDrawn="1"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 rot="5400000">
            <a:off x="7789213" y="-1639237"/>
            <a:ext cx="1027995" cy="5188936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5128B988-8D2B-0A0A-7956-5CA04C0FDB44}"/>
              </a:ext>
            </a:extLst>
          </p:cNvPr>
          <p:cNvGrpSpPr/>
          <p:nvPr userDrawn="1"/>
        </p:nvGrpSpPr>
        <p:grpSpPr>
          <a:xfrm>
            <a:off x="564673" y="2855583"/>
            <a:ext cx="11425885" cy="3667982"/>
            <a:chOff x="564673" y="2855583"/>
            <a:chExt cx="11425885" cy="3667982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D2FE3AFF-2190-5DF6-E713-EC11570E0EF8}"/>
                </a:ext>
              </a:extLst>
            </p:cNvPr>
            <p:cNvCxnSpPr/>
            <p:nvPr/>
          </p:nvCxnSpPr>
          <p:spPr>
            <a:xfrm>
              <a:off x="11591293" y="2855583"/>
              <a:ext cx="0" cy="326871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8C7B5F83-4BE2-1383-09AC-DC9BC62E2041}"/>
                </a:ext>
              </a:extLst>
            </p:cNvPr>
            <p:cNvCxnSpPr>
              <a:cxnSpLocks/>
            </p:cNvCxnSpPr>
            <p:nvPr/>
          </p:nvCxnSpPr>
          <p:spPr>
            <a:xfrm>
              <a:off x="564673" y="6133970"/>
              <a:ext cx="11026620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CF99B4C7-2BBC-266D-B812-2154AFAF7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92028" y="5725035"/>
              <a:ext cx="798530" cy="798530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957781B-D2D6-9782-79A3-43B11CB6F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362086" y="5998606"/>
              <a:ext cx="458415" cy="251389"/>
            </a:xfrm>
            <a:prstGeom prst="rect">
              <a:avLst/>
            </a:prstGeom>
          </p:spPr>
        </p:pic>
      </p:grp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685968CD-0494-A8CA-26FF-2E49190B0E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420" y="6290672"/>
            <a:ext cx="2743200" cy="365125"/>
          </a:xfrm>
        </p:spPr>
        <p:txBody>
          <a:bodyPr/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Иркутск 2026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90108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4920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07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5419054" cy="492019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B89224F-0C3D-94BB-2D8D-87D816C05CA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97596"/>
            <a:ext cx="5717758" cy="492019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4608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47444"/>
            <a:ext cx="1085363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4920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25F08DE-D437-9522-B4A9-22636A7C59C4}"/>
              </a:ext>
            </a:extLst>
          </p:cNvPr>
          <p:cNvPicPr/>
          <p:nvPr userDrawn="1"/>
        </p:nvPicPr>
        <p:blipFill>
          <a:blip r:embed="rId2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143466" y="290669"/>
            <a:ext cx="872985" cy="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4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34059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B9229DE-E461-1FB7-91D5-EC698BD3E9F7}"/>
              </a:ext>
            </a:extLst>
          </p:cNvPr>
          <p:cNvCxnSpPr>
            <a:cxnSpLocks/>
          </p:cNvCxnSpPr>
          <p:nvPr userDrawn="1"/>
        </p:nvCxnSpPr>
        <p:spPr>
          <a:xfrm>
            <a:off x="-50157" y="5030743"/>
            <a:ext cx="12292314" cy="0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ъект 2">
            <a:extLst>
              <a:ext uri="{FF2B5EF4-FFF2-40B4-BE49-F238E27FC236}">
                <a16:creationId xmlns:a16="http://schemas.microsoft.com/office/drawing/2014/main" id="{66CA4CD4-8EA6-93D5-A9E6-18976DE7C5A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8242" y="5266387"/>
            <a:ext cx="11435516" cy="911798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50B285-82E5-5CDF-3303-305B3C7E9B2C}"/>
              </a:ext>
            </a:extLst>
          </p:cNvPr>
          <p:cNvGrpSpPr/>
          <p:nvPr userDrawn="1"/>
        </p:nvGrpSpPr>
        <p:grpSpPr>
          <a:xfrm rot="5400000">
            <a:off x="-2841103" y="3849677"/>
            <a:ext cx="6008064" cy="256410"/>
            <a:chOff x="351141" y="6413828"/>
            <a:chExt cx="6008064" cy="256410"/>
          </a:xfrm>
        </p:grpSpPr>
        <p:sp>
          <p:nvSpPr>
            <p:cNvPr id="6" name="Ромб 5">
              <a:extLst>
                <a:ext uri="{FF2B5EF4-FFF2-40B4-BE49-F238E27FC236}">
                  <a16:creationId xmlns:a16="http://schemas.microsoft.com/office/drawing/2014/main" id="{84E27F7C-EA85-DF9A-EBD7-2C5E04D0143E}"/>
                </a:ext>
              </a:extLst>
            </p:cNvPr>
            <p:cNvSpPr/>
            <p:nvPr userDrawn="1"/>
          </p:nvSpPr>
          <p:spPr>
            <a:xfrm>
              <a:off x="351141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Ромб 14">
              <a:extLst>
                <a:ext uri="{FF2B5EF4-FFF2-40B4-BE49-F238E27FC236}">
                  <a16:creationId xmlns:a16="http://schemas.microsoft.com/office/drawing/2014/main" id="{0B843DA0-2B07-0B87-1502-FF405D8DC018}"/>
                </a:ext>
              </a:extLst>
            </p:cNvPr>
            <p:cNvSpPr/>
            <p:nvPr userDrawn="1"/>
          </p:nvSpPr>
          <p:spPr>
            <a:xfrm>
              <a:off x="4289960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Ромб 16">
              <a:extLst>
                <a:ext uri="{FF2B5EF4-FFF2-40B4-BE49-F238E27FC236}">
                  <a16:creationId xmlns:a16="http://schemas.microsoft.com/office/drawing/2014/main" id="{20E657EE-5CA8-1A5D-2786-6680ECCBDF85}"/>
                </a:ext>
              </a:extLst>
            </p:cNvPr>
            <p:cNvSpPr/>
            <p:nvPr userDrawn="1"/>
          </p:nvSpPr>
          <p:spPr>
            <a:xfrm>
              <a:off x="6097803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9091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34059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B9229DE-E461-1FB7-91D5-EC698BD3E9F7}"/>
              </a:ext>
            </a:extLst>
          </p:cNvPr>
          <p:cNvCxnSpPr>
            <a:cxnSpLocks/>
          </p:cNvCxnSpPr>
          <p:nvPr userDrawn="1"/>
        </p:nvCxnSpPr>
        <p:spPr>
          <a:xfrm>
            <a:off x="-50157" y="5030743"/>
            <a:ext cx="12292314" cy="0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ъект 2">
            <a:extLst>
              <a:ext uri="{FF2B5EF4-FFF2-40B4-BE49-F238E27FC236}">
                <a16:creationId xmlns:a16="http://schemas.microsoft.com/office/drawing/2014/main" id="{66CA4CD4-8EA6-93D5-A9E6-18976DE7C5A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8242" y="5266387"/>
            <a:ext cx="11435516" cy="911798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50B285-82E5-5CDF-3303-305B3C7E9B2C}"/>
              </a:ext>
            </a:extLst>
          </p:cNvPr>
          <p:cNvGrpSpPr/>
          <p:nvPr userDrawn="1"/>
        </p:nvGrpSpPr>
        <p:grpSpPr>
          <a:xfrm rot="5400000">
            <a:off x="-2841103" y="3849677"/>
            <a:ext cx="6008064" cy="256410"/>
            <a:chOff x="351141" y="6413828"/>
            <a:chExt cx="6008064" cy="256410"/>
          </a:xfrm>
        </p:grpSpPr>
        <p:sp>
          <p:nvSpPr>
            <p:cNvPr id="6" name="Ромб 5">
              <a:extLst>
                <a:ext uri="{FF2B5EF4-FFF2-40B4-BE49-F238E27FC236}">
                  <a16:creationId xmlns:a16="http://schemas.microsoft.com/office/drawing/2014/main" id="{84E27F7C-EA85-DF9A-EBD7-2C5E04D0143E}"/>
                </a:ext>
              </a:extLst>
            </p:cNvPr>
            <p:cNvSpPr/>
            <p:nvPr userDrawn="1"/>
          </p:nvSpPr>
          <p:spPr>
            <a:xfrm>
              <a:off x="351141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Ромб 14">
              <a:extLst>
                <a:ext uri="{FF2B5EF4-FFF2-40B4-BE49-F238E27FC236}">
                  <a16:creationId xmlns:a16="http://schemas.microsoft.com/office/drawing/2014/main" id="{0B843DA0-2B07-0B87-1502-FF405D8DC018}"/>
                </a:ext>
              </a:extLst>
            </p:cNvPr>
            <p:cNvSpPr/>
            <p:nvPr userDrawn="1"/>
          </p:nvSpPr>
          <p:spPr>
            <a:xfrm>
              <a:off x="4289960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Ромб 16">
              <a:extLst>
                <a:ext uri="{FF2B5EF4-FFF2-40B4-BE49-F238E27FC236}">
                  <a16:creationId xmlns:a16="http://schemas.microsoft.com/office/drawing/2014/main" id="{20E657EE-5CA8-1A5D-2786-6680ECCBDF85}"/>
                </a:ext>
              </a:extLst>
            </p:cNvPr>
            <p:cNvSpPr/>
            <p:nvPr userDrawn="1"/>
          </p:nvSpPr>
          <p:spPr>
            <a:xfrm>
              <a:off x="6097803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4D9628F-BA65-85C5-CA18-FDA108C0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47444"/>
            <a:ext cx="1085363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877A6010-6576-464C-9D73-B8F7350833F9}"/>
              </a:ext>
            </a:extLst>
          </p:cNvPr>
          <p:cNvPicPr/>
          <p:nvPr userDrawn="1"/>
        </p:nvPicPr>
        <p:blipFill>
          <a:blip r:embed="rId2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143466" y="290669"/>
            <a:ext cx="872985" cy="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6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728" y="1389170"/>
            <a:ext cx="8493030" cy="4787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6AF2EF9-3F90-1D38-B779-B75BBC04E83B}"/>
              </a:ext>
            </a:extLst>
          </p:cNvPr>
          <p:cNvCxnSpPr>
            <a:cxnSpLocks/>
          </p:cNvCxnSpPr>
          <p:nvPr userDrawn="1"/>
        </p:nvCxnSpPr>
        <p:spPr>
          <a:xfrm>
            <a:off x="2972548" y="1105124"/>
            <a:ext cx="0" cy="575287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>
            <a:extLst>
              <a:ext uri="{FF2B5EF4-FFF2-40B4-BE49-F238E27FC236}">
                <a16:creationId xmlns:a16="http://schemas.microsoft.com/office/drawing/2014/main" id="{751BD6AD-7D74-4AD4-0A6A-CE8A83C182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3212" y="1389170"/>
            <a:ext cx="2246125" cy="5276806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203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924" y="2021840"/>
            <a:ext cx="7119834" cy="41551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6AF2EF9-3F90-1D38-B779-B75BBC04E83B}"/>
              </a:ext>
            </a:extLst>
          </p:cNvPr>
          <p:cNvCxnSpPr>
            <a:cxnSpLocks/>
          </p:cNvCxnSpPr>
          <p:nvPr userDrawn="1"/>
        </p:nvCxnSpPr>
        <p:spPr>
          <a:xfrm>
            <a:off x="4323828" y="1105124"/>
            <a:ext cx="0" cy="575287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>
            <a:extLst>
              <a:ext uri="{FF2B5EF4-FFF2-40B4-BE49-F238E27FC236}">
                <a16:creationId xmlns:a16="http://schemas.microsoft.com/office/drawing/2014/main" id="{751BD6AD-7D74-4AD4-0A6A-CE8A83C182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3212" y="1389170"/>
            <a:ext cx="3568705" cy="4091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5F90A67-237D-6C1B-8C29-FD10E875D6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35852" y="1389170"/>
            <a:ext cx="3446992" cy="4091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A306F97-5A83-35CB-F813-E7FD3010CF3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8402" y="2021839"/>
            <a:ext cx="3542323" cy="41551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06344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728" y="1389170"/>
            <a:ext cx="8493030" cy="4787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6AF2EF9-3F90-1D38-B779-B75BBC04E83B}"/>
              </a:ext>
            </a:extLst>
          </p:cNvPr>
          <p:cNvCxnSpPr>
            <a:cxnSpLocks/>
          </p:cNvCxnSpPr>
          <p:nvPr userDrawn="1"/>
        </p:nvCxnSpPr>
        <p:spPr>
          <a:xfrm>
            <a:off x="2972548" y="1105124"/>
            <a:ext cx="0" cy="575287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>
            <a:extLst>
              <a:ext uri="{FF2B5EF4-FFF2-40B4-BE49-F238E27FC236}">
                <a16:creationId xmlns:a16="http://schemas.microsoft.com/office/drawing/2014/main" id="{751BD6AD-7D74-4AD4-0A6A-CE8A83C182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3212" y="1389170"/>
            <a:ext cx="2246125" cy="5276806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9707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усеченный угол 3">
            <a:extLst>
              <a:ext uri="{FF2B5EF4-FFF2-40B4-BE49-F238E27FC236}">
                <a16:creationId xmlns:a16="http://schemas.microsoft.com/office/drawing/2014/main" id="{029D64A9-CC0B-0D02-4E37-9F22D2123194}"/>
              </a:ext>
            </a:extLst>
          </p:cNvPr>
          <p:cNvSpPr/>
          <p:nvPr userDrawn="1"/>
        </p:nvSpPr>
        <p:spPr>
          <a:xfrm>
            <a:off x="292777" y="3886251"/>
            <a:ext cx="5729592" cy="252757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F14A1-44B8-92D9-D0FC-0EAEA47DB8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/>
          <a:stretch>
            <a:fillRect/>
          </a:stretch>
        </p:blipFill>
        <p:spPr>
          <a:xfrm>
            <a:off x="5638185" y="3425954"/>
            <a:ext cx="399266" cy="79853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E052E9CC-9059-F1B0-1644-31F9C6CFDC57}"/>
              </a:ext>
            </a:extLst>
          </p:cNvPr>
          <p:cNvSpPr/>
          <p:nvPr userDrawn="1"/>
        </p:nvSpPr>
        <p:spPr>
          <a:xfrm flipH="1">
            <a:off x="6160648" y="3026171"/>
            <a:ext cx="5729591" cy="3387657"/>
          </a:xfrm>
          <a:prstGeom prst="snip1Rect">
            <a:avLst>
              <a:gd name="adj" fmla="val 13303"/>
            </a:avLst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7F7DBED-38F4-84E1-E596-A8E3D9E70E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/>
          <a:stretch>
            <a:fillRect/>
          </a:stretch>
        </p:blipFill>
        <p:spPr>
          <a:xfrm rot="10800000">
            <a:off x="6160649" y="2579431"/>
            <a:ext cx="399266" cy="81190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4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: один усеченный угол 15">
            <a:extLst>
              <a:ext uri="{FF2B5EF4-FFF2-40B4-BE49-F238E27FC236}">
                <a16:creationId xmlns:a16="http://schemas.microsoft.com/office/drawing/2014/main" id="{66DE0BFD-724C-EE33-7322-F6327273A505}"/>
              </a:ext>
            </a:extLst>
          </p:cNvPr>
          <p:cNvSpPr/>
          <p:nvPr userDrawn="1"/>
        </p:nvSpPr>
        <p:spPr>
          <a:xfrm rot="10800000" flipH="1">
            <a:off x="301752" y="1232819"/>
            <a:ext cx="5729592" cy="2525733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0" name="Прямоугольник: усеченные противолежащие углы 19">
            <a:extLst>
              <a:ext uri="{FF2B5EF4-FFF2-40B4-BE49-F238E27FC236}">
                <a16:creationId xmlns:a16="http://schemas.microsoft.com/office/drawing/2014/main" id="{C653C613-8071-2CD5-F910-908BE3BC679C}"/>
              </a:ext>
            </a:extLst>
          </p:cNvPr>
          <p:cNvSpPr/>
          <p:nvPr userDrawn="1"/>
        </p:nvSpPr>
        <p:spPr>
          <a:xfrm>
            <a:off x="6160650" y="1232820"/>
            <a:ext cx="5729592" cy="1698400"/>
          </a:xfrm>
          <a:prstGeom prst="snip2DiagRect">
            <a:avLst>
              <a:gd name="adj1" fmla="val 0"/>
              <a:gd name="adj2" fmla="val 26815"/>
            </a:avLst>
          </a:prstGeom>
          <a:noFill/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3DCFB6D-6A0B-2CDC-828A-15D56CA7C6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 b="49225"/>
          <a:stretch>
            <a:fillRect/>
          </a:stretch>
        </p:blipFill>
        <p:spPr>
          <a:xfrm rot="16200000">
            <a:off x="11515734" y="1211976"/>
            <a:ext cx="399266" cy="412246"/>
          </a:xfrm>
          <a:prstGeom prst="rect">
            <a:avLst/>
          </a:prstGeom>
        </p:spPr>
      </p:pic>
      <p:sp>
        <p:nvSpPr>
          <p:cNvPr id="25" name="Объект 2">
            <a:extLst>
              <a:ext uri="{FF2B5EF4-FFF2-40B4-BE49-F238E27FC236}">
                <a16:creationId xmlns:a16="http://schemas.microsoft.com/office/drawing/2014/main" id="{10514181-9C75-25A9-7FC5-7938D389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F02F89C5-038B-5063-2217-4E6B6BBFE24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Объект 2">
            <a:extLst>
              <a:ext uri="{FF2B5EF4-FFF2-40B4-BE49-F238E27FC236}">
                <a16:creationId xmlns:a16="http://schemas.microsoft.com/office/drawing/2014/main" id="{6FC37832-3A3F-14EF-F64F-4481D17F8EB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29485" y="3697612"/>
            <a:ext cx="5550611" cy="2621265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C6974289-DCDE-E7B1-E042-6DE2ADC0DE0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63147" y="1779553"/>
            <a:ext cx="5550611" cy="106423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Объект 2">
            <a:extLst>
              <a:ext uri="{FF2B5EF4-FFF2-40B4-BE49-F238E27FC236}">
                <a16:creationId xmlns:a16="http://schemas.microsoft.com/office/drawing/2014/main" id="{7C7A0900-E648-EF8F-B751-65C14D2096E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Объект 2">
            <a:extLst>
              <a:ext uri="{FF2B5EF4-FFF2-40B4-BE49-F238E27FC236}">
                <a16:creationId xmlns:a16="http://schemas.microsoft.com/office/drawing/2014/main" id="{F1B6D5C2-8F1C-AF1B-2206-05FB63E6FE2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AEB0007-E767-C6AB-9CEC-4F7DB90C066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63147" y="1342440"/>
            <a:ext cx="5550611" cy="378426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A0EC8309-D45C-C5BA-34B5-DACB9226839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229485" y="3207629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926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F14A1-44B8-92D9-D0FC-0EAEA47DB8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/>
          <a:stretch>
            <a:fillRect/>
          </a:stretch>
        </p:blipFill>
        <p:spPr>
          <a:xfrm>
            <a:off x="5687755" y="3424058"/>
            <a:ext cx="399266" cy="79853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E052E9CC-9059-F1B0-1644-31F9C6CFDC57}"/>
              </a:ext>
            </a:extLst>
          </p:cNvPr>
          <p:cNvSpPr/>
          <p:nvPr userDrawn="1"/>
        </p:nvSpPr>
        <p:spPr>
          <a:xfrm flipH="1">
            <a:off x="6160647" y="1232819"/>
            <a:ext cx="5729591" cy="5181009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4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: один усеченный угол 15">
            <a:extLst>
              <a:ext uri="{FF2B5EF4-FFF2-40B4-BE49-F238E27FC236}">
                <a16:creationId xmlns:a16="http://schemas.microsoft.com/office/drawing/2014/main" id="{66DE0BFD-724C-EE33-7322-F6327273A505}"/>
              </a:ext>
            </a:extLst>
          </p:cNvPr>
          <p:cNvSpPr/>
          <p:nvPr userDrawn="1"/>
        </p:nvSpPr>
        <p:spPr>
          <a:xfrm rot="10800000" flipH="1">
            <a:off x="301752" y="1232819"/>
            <a:ext cx="5729592" cy="2525733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C557544E-0F6B-A7AC-F745-249BA08981B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63147" y="1801065"/>
            <a:ext cx="5550611" cy="453090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: один усеченный угол 23">
            <a:extLst>
              <a:ext uri="{FF2B5EF4-FFF2-40B4-BE49-F238E27FC236}">
                <a16:creationId xmlns:a16="http://schemas.microsoft.com/office/drawing/2014/main" id="{4D5A1D09-7A49-96F9-F025-289704623516}"/>
              </a:ext>
            </a:extLst>
          </p:cNvPr>
          <p:cNvSpPr/>
          <p:nvPr userDrawn="1"/>
        </p:nvSpPr>
        <p:spPr>
          <a:xfrm>
            <a:off x="292777" y="3886251"/>
            <a:ext cx="5729592" cy="252757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A56370DE-EE5B-5BC5-4BA7-CC8D0D863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5F4316CF-C3C1-39BF-B3CA-342A223B7F4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0F2166A0-04BC-F644-14DC-B76DF7494B8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CEAA0681-6CEC-FF54-AB00-0AA5C98ECBD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58AEA51A-6C99-E4DC-6496-BCD2DEAEFFD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50136" y="1301688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654009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F14A1-44B8-92D9-D0FC-0EAEA47DB8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000"/>
          <a:stretch>
            <a:fillRect/>
          </a:stretch>
        </p:blipFill>
        <p:spPr>
          <a:xfrm>
            <a:off x="5687755" y="3424058"/>
            <a:ext cx="399266" cy="79853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E052E9CC-9059-F1B0-1644-31F9C6CFDC57}"/>
              </a:ext>
            </a:extLst>
          </p:cNvPr>
          <p:cNvSpPr/>
          <p:nvPr userDrawn="1"/>
        </p:nvSpPr>
        <p:spPr>
          <a:xfrm flipH="1">
            <a:off x="6160647" y="1232819"/>
            <a:ext cx="5729591" cy="5181009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3" y="247444"/>
            <a:ext cx="10721754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: один усеченный угол 15">
            <a:extLst>
              <a:ext uri="{FF2B5EF4-FFF2-40B4-BE49-F238E27FC236}">
                <a16:creationId xmlns:a16="http://schemas.microsoft.com/office/drawing/2014/main" id="{66DE0BFD-724C-EE33-7322-F6327273A505}"/>
              </a:ext>
            </a:extLst>
          </p:cNvPr>
          <p:cNvSpPr/>
          <p:nvPr userDrawn="1"/>
        </p:nvSpPr>
        <p:spPr>
          <a:xfrm rot="10800000" flipH="1">
            <a:off x="301752" y="1232819"/>
            <a:ext cx="5729592" cy="2525733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C557544E-0F6B-A7AC-F745-249BA08981B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63147" y="1801065"/>
            <a:ext cx="5550611" cy="453090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: один усеченный угол 23">
            <a:extLst>
              <a:ext uri="{FF2B5EF4-FFF2-40B4-BE49-F238E27FC236}">
                <a16:creationId xmlns:a16="http://schemas.microsoft.com/office/drawing/2014/main" id="{4D5A1D09-7A49-96F9-F025-289704623516}"/>
              </a:ext>
            </a:extLst>
          </p:cNvPr>
          <p:cNvSpPr/>
          <p:nvPr userDrawn="1"/>
        </p:nvSpPr>
        <p:spPr>
          <a:xfrm>
            <a:off x="292777" y="3886251"/>
            <a:ext cx="5729592" cy="252757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A56370DE-EE5B-5BC5-4BA7-CC8D0D863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5F4316CF-C3C1-39BF-B3CA-342A223B7F4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0F2166A0-04BC-F644-14DC-B76DF7494B8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CEAA0681-6CEC-FF54-AB00-0AA5C98ECBD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58AEA51A-6C99-E4DC-6496-BCD2DEAEFFD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50136" y="1301688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8BD804D-794A-3759-85F2-2CCE5B3C6BDA}"/>
              </a:ext>
            </a:extLst>
          </p:cNvPr>
          <p:cNvPicPr/>
          <p:nvPr userDrawn="1"/>
        </p:nvPicPr>
        <p:blipFill>
          <a:blip r:embed="rId4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143466" y="290669"/>
            <a:ext cx="872985" cy="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91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2C77C-6A18-CADF-B74E-4DC86C0E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55703"/>
            <a:ext cx="10631905" cy="8249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AC479-F2A5-54BB-4A92-B3A74133A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395663"/>
            <a:ext cx="5181600" cy="49657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E07E09-5676-27A8-25B5-AE3BB0A2A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1395663"/>
            <a:ext cx="5297904" cy="49657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23D6E9-D767-0872-775C-8FBF1B20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1704" y="6361367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D9F7EB-44BD-0D71-3618-1A4989FA706D}"/>
              </a:ext>
            </a:extLst>
          </p:cNvPr>
          <p:cNvSpPr/>
          <p:nvPr userDrawn="1"/>
        </p:nvSpPr>
        <p:spPr>
          <a:xfrm>
            <a:off x="0" y="0"/>
            <a:ext cx="766560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B5D3870-C48D-3581-17A9-B34341422B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92774" y="355704"/>
            <a:ext cx="621990" cy="58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C1CDB5A1-BD78-98D5-D14E-748973E9ED49}"/>
              </a:ext>
            </a:extLst>
          </p:cNvPr>
          <p:cNvPicPr/>
          <p:nvPr userDrawn="1"/>
        </p:nvPicPr>
        <p:blipFill>
          <a:blip r:embed="rId4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-32724" y="1278495"/>
            <a:ext cx="872985" cy="5897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0B6214-15D8-7AF0-AD39-D67393A73E4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204603" y="5553330"/>
            <a:ext cx="14478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99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2C77C-6A18-CADF-B74E-4DC86C0E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55703"/>
            <a:ext cx="10631905" cy="8249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AC479-F2A5-54BB-4A92-B3A74133A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395663"/>
            <a:ext cx="4572001" cy="29036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E07E09-5676-27A8-25B5-AE3BB0A2A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1441" y="1395663"/>
            <a:ext cx="5683463" cy="47718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23D6E9-D767-0872-775C-8FBF1B20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1704" y="6361367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D9F7EB-44BD-0D71-3618-1A4989FA706D}"/>
              </a:ext>
            </a:extLst>
          </p:cNvPr>
          <p:cNvSpPr/>
          <p:nvPr userDrawn="1"/>
        </p:nvSpPr>
        <p:spPr>
          <a:xfrm>
            <a:off x="0" y="0"/>
            <a:ext cx="766560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B5D3870-C48D-3581-17A9-B34341422B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92774" y="355704"/>
            <a:ext cx="621990" cy="58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C1CDB5A1-BD78-98D5-D14E-748973E9ED49}"/>
              </a:ext>
            </a:extLst>
          </p:cNvPr>
          <p:cNvPicPr/>
          <p:nvPr userDrawn="1"/>
        </p:nvPicPr>
        <p:blipFill>
          <a:blip r:embed="rId4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-32724" y="1278495"/>
            <a:ext cx="872985" cy="5897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0B6214-15D8-7AF0-AD39-D67393A73E4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204603" y="5553330"/>
            <a:ext cx="1447800" cy="533400"/>
          </a:xfrm>
          <a:prstGeom prst="rect">
            <a:avLst/>
          </a:prstGeom>
        </p:spPr>
      </p:pic>
      <p:sp>
        <p:nvSpPr>
          <p:cNvPr id="14" name="Прямоугольник: один усеченный угол 13">
            <a:extLst>
              <a:ext uri="{FF2B5EF4-FFF2-40B4-BE49-F238E27FC236}">
                <a16:creationId xmlns:a16="http://schemas.microsoft.com/office/drawing/2014/main" id="{542ADC93-17F1-7250-0CDB-C85881A21E8E}"/>
              </a:ext>
            </a:extLst>
          </p:cNvPr>
          <p:cNvSpPr/>
          <p:nvPr userDrawn="1"/>
        </p:nvSpPr>
        <p:spPr>
          <a:xfrm>
            <a:off x="378242" y="4667880"/>
            <a:ext cx="5336759" cy="168659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 lvl="0"/>
            <a:r>
              <a:rPr lang="ru-RU" dirty="0">
                <a:solidFill>
                  <a:srgbClr val="0B5185"/>
                </a:solidFill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19472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8858605" y="0"/>
            <a:ext cx="3333394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D0A56-6459-B722-A8DA-68710136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81" y="365125"/>
            <a:ext cx="8238619" cy="64770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B5185"/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393" y="1425064"/>
            <a:ext cx="8238619" cy="4119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93" y="2046227"/>
            <a:ext cx="8238619" cy="41434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25655" y="1509701"/>
            <a:ext cx="2595952" cy="58341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25654" y="2323370"/>
            <a:ext cx="2595952" cy="386629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BF97DC4-A80C-1436-8D41-7028A5101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11199616" y="251695"/>
            <a:ext cx="621990" cy="58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EDF6B9F9-56AF-85F2-F6C2-0A51296CECCA}"/>
              </a:ext>
            </a:extLst>
          </p:cNvPr>
          <p:cNvPicPr/>
          <p:nvPr userDrawn="1"/>
        </p:nvPicPr>
        <p:blipFill>
          <a:blip r:embed="rId4" cstate="print">
            <a:biLevel thresh="25000"/>
          </a:blip>
          <a:srcRect t="55308" r="-21530"/>
          <a:stretch>
            <a:fillRect/>
          </a:stretch>
        </p:blipFill>
        <p:spPr>
          <a:xfrm rot="5400000">
            <a:off x="9475424" y="1927"/>
            <a:ext cx="583417" cy="10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2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333394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9575" y="387636"/>
            <a:ext cx="7041254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9575" y="1012826"/>
            <a:ext cx="8394067" cy="5176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93" y="387636"/>
            <a:ext cx="2595952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93" y="1012826"/>
            <a:ext cx="2595952" cy="517683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859D6EBA-CD8B-7E82-9A3A-425A42D8EE73}"/>
              </a:ext>
            </a:extLst>
          </p:cNvPr>
          <p:cNvPicPr/>
          <p:nvPr userDrawn="1"/>
        </p:nvPicPr>
        <p:blipFill>
          <a:blip r:embed="rId2" cstate="print">
            <a:biLevel thresh="75000"/>
          </a:blip>
          <a:srcRect t="55308" r="-21530"/>
          <a:stretch>
            <a:fillRect/>
          </a:stretch>
        </p:blipFill>
        <p:spPr>
          <a:xfrm rot="5400000">
            <a:off x="11060457" y="-7464"/>
            <a:ext cx="583417" cy="10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04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012068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928" y="387636"/>
            <a:ext cx="4258900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928" y="1012826"/>
            <a:ext cx="5611714" cy="5176837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92" y="387636"/>
            <a:ext cx="5216591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92" y="1012826"/>
            <a:ext cx="5216591" cy="517683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859D6EBA-CD8B-7E82-9A3A-425A42D8EE73}"/>
              </a:ext>
            </a:extLst>
          </p:cNvPr>
          <p:cNvPicPr/>
          <p:nvPr userDrawn="1"/>
        </p:nvPicPr>
        <p:blipFill>
          <a:blip r:embed="rId2" cstate="print">
            <a:biLevel thresh="75000"/>
          </a:blip>
          <a:srcRect t="55308" r="-21530"/>
          <a:stretch>
            <a:fillRect/>
          </a:stretch>
        </p:blipFill>
        <p:spPr>
          <a:xfrm rot="5400000">
            <a:off x="11060457" y="-7464"/>
            <a:ext cx="583417" cy="10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04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5416062" y="0"/>
            <a:ext cx="6775937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D0A56-6459-B722-A8DA-68710136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55" y="419668"/>
            <a:ext cx="4439226" cy="822987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B5185"/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803" y="1417091"/>
            <a:ext cx="4439226" cy="4119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03" y="2003483"/>
            <a:ext cx="4439226" cy="41434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16296" y="419668"/>
            <a:ext cx="3808792" cy="832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16296" y="1398356"/>
            <a:ext cx="6003721" cy="4791307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BF97DC4-A80C-1436-8D41-7028A5101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11263789" y="407469"/>
            <a:ext cx="556229" cy="52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EDF6B9F9-56AF-85F2-F6C2-0A51296CECCA}"/>
              </a:ext>
            </a:extLst>
          </p:cNvPr>
          <p:cNvPicPr/>
          <p:nvPr userDrawn="1"/>
        </p:nvPicPr>
        <p:blipFill>
          <a:blip r:embed="rId4" cstate="print">
            <a:biLevel thresh="25000"/>
          </a:blip>
          <a:srcRect t="55308" r="-21530"/>
          <a:stretch>
            <a:fillRect/>
          </a:stretch>
        </p:blipFill>
        <p:spPr>
          <a:xfrm rot="5400000">
            <a:off x="10246838" y="157701"/>
            <a:ext cx="583417" cy="1082954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AAF6517-E633-4354-6FE9-771A21D8854E}"/>
              </a:ext>
            </a:extLst>
          </p:cNvPr>
          <p:cNvCxnSpPr>
            <a:cxnSpLocks/>
          </p:cNvCxnSpPr>
          <p:nvPr userDrawn="1"/>
        </p:nvCxnSpPr>
        <p:spPr>
          <a:xfrm flipH="1">
            <a:off x="282152" y="1199269"/>
            <a:ext cx="14618" cy="529243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>
            <a:extLst>
              <a:ext uri="{FF2B5EF4-FFF2-40B4-BE49-F238E27FC236}">
                <a16:creationId xmlns:a16="http://schemas.microsoft.com/office/drawing/2014/main" id="{33C51923-7ED7-03D2-83BB-ABE5F839DEF1}"/>
              </a:ext>
            </a:extLst>
          </p:cNvPr>
          <p:cNvSpPr/>
          <p:nvPr userDrawn="1"/>
        </p:nvSpPr>
        <p:spPr>
          <a:xfrm>
            <a:off x="167945" y="1970492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D59D8F8-04C5-F3CF-AD8F-6AAE9238E9A2}"/>
              </a:ext>
            </a:extLst>
          </p:cNvPr>
          <p:cNvSpPr/>
          <p:nvPr userDrawn="1"/>
        </p:nvSpPr>
        <p:spPr>
          <a:xfrm>
            <a:off x="167945" y="3041321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0668659-F357-F2B9-583A-0F5958F08A57}"/>
              </a:ext>
            </a:extLst>
          </p:cNvPr>
          <p:cNvSpPr/>
          <p:nvPr userDrawn="1"/>
        </p:nvSpPr>
        <p:spPr>
          <a:xfrm>
            <a:off x="163420" y="5182979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CEB39BF-9687-9201-60AC-775416935EB1}"/>
              </a:ext>
            </a:extLst>
          </p:cNvPr>
          <p:cNvSpPr/>
          <p:nvPr userDrawn="1"/>
        </p:nvSpPr>
        <p:spPr>
          <a:xfrm>
            <a:off x="160488" y="4112150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861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29835-9FC5-2877-FD25-898C41D9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925E68-9663-404C-B71C-A41A45DD9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CF6AA7-86E0-F640-79B5-EC4E36BD3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rgbClr val="0B5185"/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52140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2" r:id="rId5"/>
    <p:sldLayoutId id="2147483668" r:id="rId6"/>
    <p:sldLayoutId id="2147483660" r:id="rId7"/>
    <p:sldLayoutId id="2147483672" r:id="rId8"/>
    <p:sldLayoutId id="2147483669" r:id="rId9"/>
    <p:sldLayoutId id="2147483659" r:id="rId10"/>
    <p:sldLayoutId id="2147483661" r:id="rId11"/>
    <p:sldLayoutId id="2147483666" r:id="rId12"/>
    <p:sldLayoutId id="2147483652" r:id="rId13"/>
    <p:sldLayoutId id="2147483658" r:id="rId14"/>
    <p:sldLayoutId id="2147483653" r:id="rId15"/>
    <p:sldLayoutId id="2147483665" r:id="rId16"/>
    <p:sldLayoutId id="2147483670" r:id="rId17"/>
    <p:sldLayoutId id="214748366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RF Dewi Expanded" panose="00000505000000000000"/>
          <a:ea typeface="DengXian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F Dewi Expanded" panose="00000505000000000000"/>
          <a:ea typeface="DengXian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18AD8-F6B6-1184-C786-0AB502E0B9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Тема вашей работы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025DB4-4FEC-6D11-22D7-6F46E051B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405" y="5243209"/>
            <a:ext cx="9144000" cy="71185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b="1" dirty="0"/>
              <a:t>Студент</a:t>
            </a:r>
            <a:r>
              <a:rPr lang="ru-RU" dirty="0"/>
              <a:t>: Трощенко Никита Сергеевич 14421-ДБ</a:t>
            </a:r>
          </a:p>
          <a:p>
            <a:pPr>
              <a:spcBef>
                <a:spcPts val="0"/>
              </a:spcBef>
            </a:pPr>
            <a:r>
              <a:rPr lang="ru-RU" b="1" dirty="0"/>
              <a:t>Консультант</a:t>
            </a:r>
            <a:r>
              <a:rPr lang="ru-RU" dirty="0"/>
              <a:t>: Киселев А.В., научный сотрудник, доцент ИСЗФ СО РАН</a:t>
            </a:r>
          </a:p>
          <a:p>
            <a:pPr>
              <a:spcBef>
                <a:spcPts val="0"/>
              </a:spcBef>
            </a:pPr>
            <a:r>
              <a:rPr lang="ru-RU" b="1" dirty="0"/>
              <a:t>Научный руководитель</a:t>
            </a:r>
            <a:r>
              <a:rPr lang="ru-RU" dirty="0"/>
              <a:t>: доцент, к.т.н., Петрушин И.С.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9F0CF-49BE-9C54-5513-683A62172041}"/>
              </a:ext>
            </a:extLst>
          </p:cNvPr>
          <p:cNvSpPr txBox="1"/>
          <p:nvPr/>
        </p:nvSpPr>
        <p:spPr>
          <a:xfrm>
            <a:off x="524873" y="625740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RF Dewi Expanded" panose="0000050500000000000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1154718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B229-F4DB-FEB2-02BC-9AD7A4B97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D4065-12B2-2F76-A7E6-456F0689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65560B-675E-6A81-19AB-A8C7F70D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2</a:t>
            </a:fld>
            <a:endParaRPr lang="ru-RU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55CF6D34-BB1C-6990-9E35-542D731DA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412240"/>
            <a:ext cx="11435516" cy="4897120"/>
          </a:xfrm>
        </p:spPr>
        <p:txBody>
          <a:bodyPr/>
          <a:lstStyle/>
          <a:p>
            <a:r>
              <a:rPr lang="ru-RU" dirty="0"/>
              <a:t>Цель и задачи обязательно прописываются на слайдах, но пока данный слайд показывается, можно говорить о другом. Например, об актуальности тематики </a:t>
            </a:r>
          </a:p>
          <a:p>
            <a:r>
              <a:rPr lang="ru-RU" dirty="0"/>
              <a:t>Читать дословно задачи не обязательно, можно сокращать</a:t>
            </a:r>
          </a:p>
          <a:p>
            <a:r>
              <a:rPr lang="ru-RU" dirty="0"/>
              <a:t>Все задачи выносятся на слайд</a:t>
            </a:r>
          </a:p>
          <a:p>
            <a:r>
              <a:rPr lang="ru-RU" dirty="0"/>
              <a:t>Все задачи должны быть пронумерованы</a:t>
            </a:r>
          </a:p>
        </p:txBody>
      </p:sp>
    </p:spTree>
    <p:extLst>
      <p:ext uri="{BB962C8B-B14F-4D97-AF65-F5344CB8AC3E}">
        <p14:creationId xmlns:p14="http://schemas.microsoft.com/office/powerpoint/2010/main" val="810112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8F509-7814-D6A4-B4DA-66CF7378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E9D22-B9D8-1F07-D875-F06B5EF2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Цель и задачи работы </a:t>
            </a:r>
            <a:br>
              <a:rPr lang="ru-RU" dirty="0"/>
            </a:br>
            <a:r>
              <a:rPr lang="ru-RU" dirty="0"/>
              <a:t>(пример)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C6FDCB-2E80-841C-E2D3-A45B69613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39" y="1988756"/>
            <a:ext cx="6747824" cy="4389092"/>
          </a:xfrm>
        </p:spPr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Изучить требования, рекомендации, регламенты и другие документы, описывающие построение или взаимодействие при разработке профиля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Разработать задачи для проведения второго отборочного этапа и опубликовать их на платформе проведения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Разработать задачи для проведения учебно-тренировочных сборов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Разработать задачи для проведения финала профиля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Провести учебно-тренировочные сборы и финал профиля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FCCEAD-8646-3C09-908D-88888BDD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3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2B5C6EF-2EFF-F0B1-4F90-CC1AE282943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5936" y="1425180"/>
            <a:ext cx="2268538" cy="3984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0B5185"/>
                </a:solidFill>
              </a:rPr>
              <a:t>Цель</a:t>
            </a:r>
          </a:p>
          <a:p>
            <a:pPr marL="0" indent="0">
              <a:buNone/>
            </a:pPr>
            <a:endParaRPr lang="ru-RU" b="1" dirty="0">
              <a:solidFill>
                <a:srgbClr val="0B518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BDD4BB-F942-7A18-3675-F05ED8AAAA4D}"/>
              </a:ext>
            </a:extLst>
          </p:cNvPr>
          <p:cNvSpPr txBox="1"/>
          <p:nvPr/>
        </p:nvSpPr>
        <p:spPr>
          <a:xfrm>
            <a:off x="475937" y="1988756"/>
            <a:ext cx="40249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Формирование программно-</a:t>
            </a:r>
          </a:p>
          <a:p>
            <a:r>
              <a:rPr lang="ru-RU" sz="2000" dirty="0"/>
              <a:t>дидактического комплекса и проведение на его основе профиля «Технологии</a:t>
            </a:r>
          </a:p>
          <a:p>
            <a:r>
              <a:rPr lang="ru-RU" sz="2000" dirty="0"/>
              <a:t>дополненной реальности» национальной</a:t>
            </a:r>
          </a:p>
          <a:p>
            <a:r>
              <a:rPr lang="ru-RU" sz="2000" dirty="0"/>
              <a:t>технологической олимпиады</a:t>
            </a:r>
            <a:endParaRPr lang="ru-RU" sz="2000" b="0" dirty="0">
              <a:effectLst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717DCA7-6980-5B31-2D18-1A2F4E60645B}"/>
              </a:ext>
            </a:extLst>
          </p:cNvPr>
          <p:cNvCxnSpPr/>
          <p:nvPr/>
        </p:nvCxnSpPr>
        <p:spPr>
          <a:xfrm>
            <a:off x="4582160" y="1097280"/>
            <a:ext cx="0" cy="576072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Объект 4">
            <a:extLst>
              <a:ext uri="{FF2B5EF4-FFF2-40B4-BE49-F238E27FC236}">
                <a16:creationId xmlns:a16="http://schemas.microsoft.com/office/drawing/2014/main" id="{2F91F9C9-92BA-EA73-3049-BCC24564A989}"/>
              </a:ext>
            </a:extLst>
          </p:cNvPr>
          <p:cNvSpPr txBox="1">
            <a:spLocks/>
          </p:cNvSpPr>
          <p:nvPr/>
        </p:nvSpPr>
        <p:spPr>
          <a:xfrm>
            <a:off x="4875217" y="1425180"/>
            <a:ext cx="2268538" cy="398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>
                <a:solidFill>
                  <a:srgbClr val="0B5185"/>
                </a:solidFill>
              </a:rPr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251451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E6211-7615-8C7D-4200-8441AFBB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Ход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551248-FF36-F653-6B66-1F6E8D05A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395663"/>
            <a:ext cx="10631904" cy="4965704"/>
          </a:xfrm>
        </p:spPr>
        <p:txBody>
          <a:bodyPr/>
          <a:lstStyle/>
          <a:p>
            <a:r>
              <a:rPr lang="ru-RU" dirty="0"/>
              <a:t>Опишите на следующих слайдах этапы выполнения работы</a:t>
            </a:r>
          </a:p>
          <a:p>
            <a:r>
              <a:rPr lang="ru-RU" dirty="0"/>
              <a:t>Используйте схемы, таблицы, изображения для демонстрации этапов. Текст – это инструмент написания итогов или уточнений в презентации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14CFD2-8EFA-39DE-1B86-2D5219A7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141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B0AAA-A49A-01B3-F99D-1665A1BB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RF Dewi Expanded" panose="00000505000000000000"/>
              </a:rPr>
              <a:t>Заключение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2AEF50-4A4A-1C85-8BF2-45F7FCD97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93" y="1342417"/>
            <a:ext cx="8238619" cy="4847246"/>
          </a:xfrm>
        </p:spPr>
        <p:txBody>
          <a:bodyPr/>
          <a:lstStyle/>
          <a:p>
            <a:r>
              <a:rPr lang="ru-RU" dirty="0"/>
              <a:t>Четко и кратко что сделано в каком количестве</a:t>
            </a:r>
          </a:p>
          <a:p>
            <a:r>
              <a:rPr lang="ru-RU" dirty="0"/>
              <a:t>Можно взять список задач и по каждой сформулировать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3926A0-61C7-6071-BF0D-50FC39FEB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AD3A9CC-D71A-9D7A-69EF-50BF424E1C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Важные элементы, </a:t>
            </a:r>
            <a:r>
              <a:rPr lang="en-US" dirty="0" err="1"/>
              <a:t>qr</a:t>
            </a:r>
            <a:r>
              <a:rPr lang="en-US" dirty="0"/>
              <a:t> </a:t>
            </a:r>
            <a:r>
              <a:rPr lang="ru-RU" dirty="0"/>
              <a:t>на просмотр кода работы или иллюстраций и т.п.. Можно вставить скриншот, не забудьте подписать что вставили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44E8A8-443E-E8D2-22DB-E5A77F16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9511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59B52-ACEA-5707-4878-2B6F1F08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Дальнейшие планы на реализацию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11CCC8A9-2713-D13A-513A-8E25380C8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План минимум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EBF0F0-2699-DCDD-1F87-C3ADF8B9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6</a:t>
            </a:fld>
            <a:endParaRPr lang="ru-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8D618D8-CD25-CF22-4F2E-99D28C2B19B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ru-RU" dirty="0"/>
              <a:t>План максимум</a:t>
            </a:r>
          </a:p>
        </p:txBody>
      </p:sp>
    </p:spTree>
    <p:extLst>
      <p:ext uri="{BB962C8B-B14F-4D97-AF65-F5344CB8AC3E}">
        <p14:creationId xmlns:p14="http://schemas.microsoft.com/office/powerpoint/2010/main" val="286331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87E6B-038B-D811-26D6-89EA132A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проделанной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D41F2F-18B9-0AB1-3C87-A162BA3F2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Вставьте сюда видео или просто открывайте его из папки рядом</a:t>
            </a:r>
          </a:p>
          <a:p>
            <a:r>
              <a:rPr lang="ru-RU" dirty="0"/>
              <a:t>Демонстрация идет ПОСЛЕ заключения, то есть завершающий элемент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306663-537D-F104-0282-6B93281A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45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559AC-1277-C0F6-BBCA-7217A9358E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519176-092F-52AC-9D34-1A0DF84F54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D0E801-DA1C-9396-099A-DB5F8CCD51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 dirty="0"/>
              <a:t>Иркутск 2026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0221431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276</Words>
  <Application>Microsoft Office PowerPoint</Application>
  <PresentationFormat>Широкоэкранный</PresentationFormat>
  <Paragraphs>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DengXian</vt:lpstr>
      <vt:lpstr>DengXian Light</vt:lpstr>
      <vt:lpstr>Aptos</vt:lpstr>
      <vt:lpstr>Arial</vt:lpstr>
      <vt:lpstr>RF Dewi Expanded</vt:lpstr>
      <vt:lpstr>Тема Office</vt:lpstr>
      <vt:lpstr>Тема вашей работы</vt:lpstr>
      <vt:lpstr>Цель и задачи работы</vt:lpstr>
      <vt:lpstr>Цель и задачи работы  (пример)</vt:lpstr>
      <vt:lpstr>Ход исследования</vt:lpstr>
      <vt:lpstr>Заключение</vt:lpstr>
      <vt:lpstr>Дальнейшие планы на реализацию</vt:lpstr>
      <vt:lpstr>Демонстрация проделанной работы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 Ugorskaya</dc:creator>
  <cp:lastModifiedBy>Yana Ugorskaya</cp:lastModifiedBy>
  <cp:revision>1</cp:revision>
  <dcterms:created xsi:type="dcterms:W3CDTF">2026-03-28T01:42:32Z</dcterms:created>
  <dcterms:modified xsi:type="dcterms:W3CDTF">2026-03-28T03:23:01Z</dcterms:modified>
</cp:coreProperties>
</file>